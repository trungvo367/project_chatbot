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Bungee" panose="020B0604020202020204" charset="0"/>
      <p:regular r:id="rId11"/>
    </p:embeddedFont>
    <p:embeddedFont>
      <p:font typeface="Krub" panose="020B0502040204020203" pitchFamily="2" charset="-34"/>
      <p:regular r:id="rId12"/>
    </p:embeddedFont>
    <p:embeddedFont>
      <p:font typeface="Krub Bold" panose="020B0604020202020204" charset="-3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828"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hyperlink" Target="https://aws.amazon.com/vi/what-is/nlp/" TargetMode="External"/><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sv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hyperlink" Target="https://interdata.vn/blog/mongodb-la-gi/" TargetMode="External"/><Relationship Id="rId3" Type="http://schemas.openxmlformats.org/officeDocument/2006/relationships/image" Target="../media/image10.sv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svg"/><Relationship Id="rId10" Type="http://schemas.openxmlformats.org/officeDocument/2006/relationships/hyperlink" Target="https://interdata.vn/blog/may-chu-server-la-gi/" TargetMode="External"/><Relationship Id="rId4" Type="http://schemas.openxmlformats.org/officeDocument/2006/relationships/image" Target="../media/image11.png"/><Relationship Id="rId9" Type="http://schemas.openxmlformats.org/officeDocument/2006/relationships/hyperlink" Target="https://interdata.vn/blog/open-source-la-gi/"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0.svg"/><Relationship Id="rId7"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svg"/><Relationship Id="rId7" Type="http://schemas.openxmlformats.org/officeDocument/2006/relationships/image" Target="../media/image2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vnptai.io/vi/blog/detail/llm-la-gi" TargetMode="Externa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hyperlink" Target="https://vnptai.io/vi/blog/detail/tri-tue-nhan-tao-ai-la-gi" TargetMode="External"/><Relationship Id="rId5" Type="http://schemas.openxmlformats.org/officeDocument/2006/relationships/image" Target="../media/image13.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900700" y="4281063"/>
            <a:ext cx="10486600" cy="2459239"/>
          </a:xfrm>
          <a:prstGeom prst="rect">
            <a:avLst/>
          </a:prstGeom>
        </p:spPr>
        <p:txBody>
          <a:bodyPr lIns="0" tIns="0" rIns="0" bIns="0" rtlCol="0" anchor="t">
            <a:spAutoFit/>
          </a:bodyPr>
          <a:lstStyle/>
          <a:p>
            <a:pPr algn="ctr">
              <a:lnSpc>
                <a:spcPts val="15914"/>
              </a:lnSpc>
            </a:pPr>
            <a:r>
              <a:rPr lang="en-US" sz="16407">
                <a:solidFill>
                  <a:srgbClr val="090147"/>
                </a:solidFill>
                <a:latin typeface="Bungee"/>
                <a:ea typeface="Bungee"/>
                <a:cs typeface="Bungee"/>
                <a:sym typeface="Bungee"/>
              </a:rPr>
              <a:t> Project</a:t>
            </a:r>
          </a:p>
        </p:txBody>
      </p:sp>
      <p:sp>
        <p:nvSpPr>
          <p:cNvPr id="3" name="Freeform 3"/>
          <p:cNvSpPr/>
          <p:nvPr/>
        </p:nvSpPr>
        <p:spPr>
          <a:xfrm>
            <a:off x="-652637" y="-721895"/>
            <a:ext cx="4062430" cy="4114800"/>
          </a:xfrm>
          <a:custGeom>
            <a:avLst/>
            <a:gdLst/>
            <a:ahLst/>
            <a:cxnLst/>
            <a:rect l="l" t="t" r="r" b="b"/>
            <a:pathLst>
              <a:path w="4062430" h="4114800">
                <a:moveTo>
                  <a:pt x="0" y="0"/>
                </a:moveTo>
                <a:lnTo>
                  <a:pt x="4062429" y="0"/>
                </a:lnTo>
                <a:lnTo>
                  <a:pt x="40624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08884" y="7041092"/>
            <a:ext cx="5174922" cy="5172766"/>
          </a:xfrm>
          <a:custGeom>
            <a:avLst/>
            <a:gdLst/>
            <a:ahLst/>
            <a:cxnLst/>
            <a:rect l="l" t="t" r="r" b="b"/>
            <a:pathLst>
              <a:path w="5174922" h="5172766">
                <a:moveTo>
                  <a:pt x="0" y="0"/>
                </a:moveTo>
                <a:lnTo>
                  <a:pt x="5174923" y="0"/>
                </a:lnTo>
                <a:lnTo>
                  <a:pt x="5174923" y="5172766"/>
                </a:lnTo>
                <a:lnTo>
                  <a:pt x="0" y="5172766"/>
                </a:lnTo>
                <a:lnTo>
                  <a:pt x="0" y="0"/>
                </a:lnTo>
                <a:close/>
              </a:path>
            </a:pathLst>
          </a:custGeom>
          <a:blipFill>
            <a:blip r:embed="rId4"/>
            <a:stretch>
              <a:fillRect/>
            </a:stretch>
          </a:blipFill>
        </p:spPr>
      </p:sp>
      <p:sp>
        <p:nvSpPr>
          <p:cNvPr id="5" name="Freeform 5"/>
          <p:cNvSpPr/>
          <p:nvPr/>
        </p:nvSpPr>
        <p:spPr>
          <a:xfrm>
            <a:off x="14322918" y="4783378"/>
            <a:ext cx="6733446" cy="7030847"/>
          </a:xfrm>
          <a:custGeom>
            <a:avLst/>
            <a:gdLst/>
            <a:ahLst/>
            <a:cxnLst/>
            <a:rect l="l" t="t" r="r" b="b"/>
            <a:pathLst>
              <a:path w="6733446" h="7030847">
                <a:moveTo>
                  <a:pt x="0" y="0"/>
                </a:moveTo>
                <a:lnTo>
                  <a:pt x="6733447" y="0"/>
                </a:lnTo>
                <a:lnTo>
                  <a:pt x="6733447" y="7030846"/>
                </a:lnTo>
                <a:lnTo>
                  <a:pt x="0" y="70308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4882600" y="-1557683"/>
            <a:ext cx="5174922" cy="5172766"/>
          </a:xfrm>
          <a:custGeom>
            <a:avLst/>
            <a:gdLst/>
            <a:ahLst/>
            <a:cxnLst/>
            <a:rect l="l" t="t" r="r" b="b"/>
            <a:pathLst>
              <a:path w="5174922" h="5172766">
                <a:moveTo>
                  <a:pt x="0" y="0"/>
                </a:moveTo>
                <a:lnTo>
                  <a:pt x="5174922" y="0"/>
                </a:lnTo>
                <a:lnTo>
                  <a:pt x="5174922" y="5172766"/>
                </a:lnTo>
                <a:lnTo>
                  <a:pt x="0" y="5172766"/>
                </a:lnTo>
                <a:lnTo>
                  <a:pt x="0" y="0"/>
                </a:lnTo>
                <a:close/>
              </a:path>
            </a:pathLst>
          </a:custGeom>
          <a:blipFill>
            <a:blip r:embed="rId4"/>
            <a:stretch>
              <a:fillRect/>
            </a:stretch>
          </a:blipFill>
        </p:spPr>
      </p:sp>
      <p:grpSp>
        <p:nvGrpSpPr>
          <p:cNvPr id="7" name="Group 7"/>
          <p:cNvGrpSpPr/>
          <p:nvPr/>
        </p:nvGrpSpPr>
        <p:grpSpPr>
          <a:xfrm>
            <a:off x="6618371" y="6818096"/>
            <a:ext cx="4950995" cy="880311"/>
            <a:chOff x="0" y="0"/>
            <a:chExt cx="1303966" cy="231851"/>
          </a:xfrm>
        </p:grpSpPr>
        <p:sp>
          <p:nvSpPr>
            <p:cNvPr id="8" name="Freeform 8"/>
            <p:cNvSpPr/>
            <p:nvPr/>
          </p:nvSpPr>
          <p:spPr>
            <a:xfrm>
              <a:off x="0" y="0"/>
              <a:ext cx="1303966" cy="231851"/>
            </a:xfrm>
            <a:custGeom>
              <a:avLst/>
              <a:gdLst/>
              <a:ahLst/>
              <a:cxnLst/>
              <a:rect l="l" t="t" r="r" b="b"/>
              <a:pathLst>
                <a:path w="1303966" h="231851">
                  <a:moveTo>
                    <a:pt x="79163" y="0"/>
                  </a:moveTo>
                  <a:lnTo>
                    <a:pt x="1224803" y="0"/>
                  </a:lnTo>
                  <a:cubicBezTo>
                    <a:pt x="1268523" y="0"/>
                    <a:pt x="1303966" y="35442"/>
                    <a:pt x="1303966" y="79163"/>
                  </a:cubicBezTo>
                  <a:lnTo>
                    <a:pt x="1303966" y="152689"/>
                  </a:lnTo>
                  <a:cubicBezTo>
                    <a:pt x="1303966" y="173684"/>
                    <a:pt x="1295625" y="193819"/>
                    <a:pt x="1280779" y="208665"/>
                  </a:cubicBezTo>
                  <a:cubicBezTo>
                    <a:pt x="1265933" y="223511"/>
                    <a:pt x="1245798" y="231851"/>
                    <a:pt x="1224803" y="231851"/>
                  </a:cubicBezTo>
                  <a:lnTo>
                    <a:pt x="79163" y="231851"/>
                  </a:lnTo>
                  <a:cubicBezTo>
                    <a:pt x="58168" y="231851"/>
                    <a:pt x="38032" y="223511"/>
                    <a:pt x="23186" y="208665"/>
                  </a:cubicBezTo>
                  <a:cubicBezTo>
                    <a:pt x="8340" y="193819"/>
                    <a:pt x="0" y="173684"/>
                    <a:pt x="0" y="152689"/>
                  </a:cubicBezTo>
                  <a:lnTo>
                    <a:pt x="0" y="79163"/>
                  </a:lnTo>
                  <a:cubicBezTo>
                    <a:pt x="0" y="58168"/>
                    <a:pt x="8340" y="38032"/>
                    <a:pt x="23186" y="23186"/>
                  </a:cubicBezTo>
                  <a:cubicBezTo>
                    <a:pt x="38032" y="8340"/>
                    <a:pt x="58168" y="0"/>
                    <a:pt x="79163" y="0"/>
                  </a:cubicBezTo>
                  <a:close/>
                </a:path>
              </a:pathLst>
            </a:custGeom>
            <a:gradFill rotWithShape="1">
              <a:gsLst>
                <a:gs pos="0">
                  <a:srgbClr val="2D8BBA">
                    <a:alpha val="100000"/>
                  </a:srgbClr>
                </a:gs>
                <a:gs pos="100000">
                  <a:srgbClr val="192385">
                    <a:alpha val="100000"/>
                  </a:srgbClr>
                </a:gs>
              </a:gsLst>
              <a:lin ang="0"/>
            </a:gradFill>
          </p:spPr>
        </p:sp>
        <p:sp>
          <p:nvSpPr>
            <p:cNvPr id="9" name="TextBox 9"/>
            <p:cNvSpPr txBox="1"/>
            <p:nvPr/>
          </p:nvSpPr>
          <p:spPr>
            <a:xfrm>
              <a:off x="0" y="-38100"/>
              <a:ext cx="1303966" cy="269951"/>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00712" y="-1889926"/>
            <a:ext cx="4420195" cy="41148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5879607" y="6830234"/>
            <a:ext cx="6528787" cy="770310"/>
          </a:xfrm>
          <a:prstGeom prst="rect">
            <a:avLst/>
          </a:prstGeom>
        </p:spPr>
        <p:txBody>
          <a:bodyPr lIns="0" tIns="0" rIns="0" bIns="0" rtlCol="0" anchor="t">
            <a:spAutoFit/>
          </a:bodyPr>
          <a:lstStyle/>
          <a:p>
            <a:pPr algn="ctr">
              <a:lnSpc>
                <a:spcPts val="6366"/>
              </a:lnSpc>
            </a:pPr>
            <a:r>
              <a:rPr lang="en-US" sz="4547" spc="50">
                <a:solidFill>
                  <a:srgbClr val="FFFFFF"/>
                </a:solidFill>
                <a:latin typeface="Krub"/>
                <a:ea typeface="Krub"/>
                <a:cs typeface="Krub"/>
                <a:sym typeface="Krub"/>
              </a:rPr>
              <a:t>Chatbot</a:t>
            </a:r>
          </a:p>
        </p:txBody>
      </p:sp>
      <p:sp>
        <p:nvSpPr>
          <p:cNvPr id="12" name="Freeform 12"/>
          <p:cNvSpPr/>
          <p:nvPr/>
        </p:nvSpPr>
        <p:spPr>
          <a:xfrm rot="-10321493">
            <a:off x="6300712" y="8352127"/>
            <a:ext cx="4420195" cy="41148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a:stretch>
          </a:blipFill>
        </p:spPr>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grpSp>
        <p:nvGrpSpPr>
          <p:cNvPr id="2" name="Group 2"/>
          <p:cNvGrpSpPr/>
          <p:nvPr/>
        </p:nvGrpSpPr>
        <p:grpSpPr>
          <a:xfrm>
            <a:off x="1461917" y="2710917"/>
            <a:ext cx="5271005" cy="5133871"/>
            <a:chOff x="0" y="0"/>
            <a:chExt cx="1388248" cy="1352131"/>
          </a:xfrm>
        </p:grpSpPr>
        <p:sp>
          <p:nvSpPr>
            <p:cNvPr id="3" name="Freeform 3"/>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4" name="TextBox 4"/>
            <p:cNvSpPr txBox="1"/>
            <p:nvPr/>
          </p:nvSpPr>
          <p:spPr>
            <a:xfrm>
              <a:off x="0" y="-38100"/>
              <a:ext cx="1388248" cy="139023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3823442" y="2197298"/>
            <a:ext cx="4464558" cy="8229600"/>
          </a:xfrm>
          <a:custGeom>
            <a:avLst/>
            <a:gdLst/>
            <a:ahLst/>
            <a:cxnLst/>
            <a:rect l="l" t="t" r="r" b="b"/>
            <a:pathLst>
              <a:path w="4464558" h="8229600">
                <a:moveTo>
                  <a:pt x="0" y="0"/>
                </a:moveTo>
                <a:lnTo>
                  <a:pt x="4464558" y="0"/>
                </a:lnTo>
                <a:lnTo>
                  <a:pt x="4464558" y="8229600"/>
                </a:lnTo>
                <a:lnTo>
                  <a:pt x="0" y="8229600"/>
                </a:lnTo>
                <a:lnTo>
                  <a:pt x="0" y="0"/>
                </a:lnTo>
                <a:close/>
              </a:path>
            </a:pathLst>
          </a:custGeom>
          <a:blipFill>
            <a:blip r:embed="rId2"/>
            <a:stretch>
              <a:fillRect/>
            </a:stretch>
          </a:blipFill>
        </p:spPr>
      </p:sp>
      <p:sp>
        <p:nvSpPr>
          <p:cNvPr id="6" name="Freeform 6"/>
          <p:cNvSpPr/>
          <p:nvPr/>
        </p:nvSpPr>
        <p:spPr>
          <a:xfrm>
            <a:off x="-2078885" y="-1028700"/>
            <a:ext cx="4062430" cy="41148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4823157" y="781525"/>
            <a:ext cx="8641686" cy="1028674"/>
          </a:xfrm>
          <a:prstGeom prst="rect">
            <a:avLst/>
          </a:prstGeom>
        </p:spPr>
        <p:txBody>
          <a:bodyPr lIns="0" tIns="0" rIns="0" bIns="0" rtlCol="0" anchor="t">
            <a:spAutoFit/>
          </a:bodyPr>
          <a:lstStyle/>
          <a:p>
            <a:pPr algn="ctr">
              <a:lnSpc>
                <a:spcPts val="6641"/>
              </a:lnSpc>
            </a:pPr>
            <a:r>
              <a:rPr lang="en-US" sz="6846">
                <a:solidFill>
                  <a:srgbClr val="090147"/>
                </a:solidFill>
                <a:latin typeface="Bungee"/>
                <a:ea typeface="Bungee"/>
                <a:cs typeface="Bungee"/>
                <a:sym typeface="Bungee"/>
              </a:rPr>
              <a:t>AI AGENT</a:t>
            </a:r>
          </a:p>
        </p:txBody>
      </p:sp>
      <p:sp>
        <p:nvSpPr>
          <p:cNvPr id="9" name="Freeform 9"/>
          <p:cNvSpPr/>
          <p:nvPr/>
        </p:nvSpPr>
        <p:spPr>
          <a:xfrm flipH="1" flipV="1">
            <a:off x="11606912" y="-134353"/>
            <a:ext cx="7147278" cy="399354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0" name="Freeform 10"/>
          <p:cNvSpPr/>
          <p:nvPr/>
        </p:nvSpPr>
        <p:spPr>
          <a:xfrm>
            <a:off x="7355695" y="2710917"/>
            <a:ext cx="8502436" cy="5133871"/>
          </a:xfrm>
          <a:custGeom>
            <a:avLst/>
            <a:gdLst/>
            <a:ahLst/>
            <a:cxnLst/>
            <a:rect l="l" t="t" r="r" b="b"/>
            <a:pathLst>
              <a:path w="8502436" h="5133871">
                <a:moveTo>
                  <a:pt x="0" y="0"/>
                </a:moveTo>
                <a:lnTo>
                  <a:pt x="8502435" y="0"/>
                </a:lnTo>
                <a:lnTo>
                  <a:pt x="8502435" y="5133871"/>
                </a:lnTo>
                <a:lnTo>
                  <a:pt x="0" y="5133871"/>
                </a:lnTo>
                <a:lnTo>
                  <a:pt x="0" y="0"/>
                </a:lnTo>
                <a:close/>
              </a:path>
            </a:pathLst>
          </a:custGeom>
          <a:blipFill>
            <a:blip r:embed="rId8"/>
            <a:stretch>
              <a:fillRect l="-2391" r="-2391"/>
            </a:stretch>
          </a:blipFill>
        </p:spPr>
      </p:sp>
      <p:sp>
        <p:nvSpPr>
          <p:cNvPr id="11" name="TextBox 11"/>
          <p:cNvSpPr txBox="1"/>
          <p:nvPr/>
        </p:nvSpPr>
        <p:spPr>
          <a:xfrm>
            <a:off x="1874724" y="3588799"/>
            <a:ext cx="4445391" cy="3061777"/>
          </a:xfrm>
          <a:prstGeom prst="rect">
            <a:avLst/>
          </a:prstGeom>
        </p:spPr>
        <p:txBody>
          <a:bodyPr lIns="0" tIns="0" rIns="0" bIns="0" rtlCol="0" anchor="t">
            <a:spAutoFit/>
          </a:bodyPr>
          <a:lstStyle/>
          <a:p>
            <a:pPr algn="l">
              <a:lnSpc>
                <a:spcPts val="3041"/>
              </a:lnSpc>
            </a:pPr>
            <a:r>
              <a:rPr lang="en-US" sz="2172" spc="23">
                <a:solidFill>
                  <a:srgbClr val="FFFFFF"/>
                </a:solidFill>
                <a:latin typeface="Krub"/>
                <a:ea typeface="Krub"/>
                <a:cs typeface="Krub"/>
                <a:sym typeface="Krub"/>
              </a:rPr>
              <a:t>AI Agent là các mô hình và thuật toán trí tuệ nhân tạo (AI) có khả năng tự động thực hiện hành động, tương tác với môi trường và tự ra quyết định trong thế giới thực mà không cần bất cứ chỉ dẫn hay điều hướng tác vụ nào từ con người.</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885241" y="1042209"/>
            <a:ext cx="10517519" cy="1028674"/>
          </a:xfrm>
          <a:prstGeom prst="rect">
            <a:avLst/>
          </a:prstGeom>
        </p:spPr>
        <p:txBody>
          <a:bodyPr lIns="0" tIns="0" rIns="0" bIns="0" rtlCol="0" anchor="t">
            <a:spAutoFit/>
          </a:bodyPr>
          <a:lstStyle/>
          <a:p>
            <a:pPr algn="ctr">
              <a:lnSpc>
                <a:spcPts val="6641"/>
              </a:lnSpc>
            </a:pPr>
            <a:r>
              <a:rPr lang="en-US" sz="6846">
                <a:solidFill>
                  <a:srgbClr val="090147"/>
                </a:solidFill>
                <a:latin typeface="Bungee"/>
                <a:ea typeface="Bungee"/>
                <a:cs typeface="Bungee"/>
                <a:sym typeface="Bungee"/>
              </a:rPr>
              <a:t>Chatbot</a:t>
            </a:r>
          </a:p>
        </p:txBody>
      </p:sp>
      <p:grpSp>
        <p:nvGrpSpPr>
          <p:cNvPr id="3" name="Group 3"/>
          <p:cNvGrpSpPr/>
          <p:nvPr/>
        </p:nvGrpSpPr>
        <p:grpSpPr>
          <a:xfrm>
            <a:off x="1461917" y="2710917"/>
            <a:ext cx="5271005" cy="5133871"/>
            <a:chOff x="0" y="0"/>
            <a:chExt cx="1388248" cy="1352131"/>
          </a:xfrm>
        </p:grpSpPr>
        <p:sp>
          <p:nvSpPr>
            <p:cNvPr id="4" name="Freeform 4"/>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5" name="TextBox 5"/>
            <p:cNvSpPr txBox="1"/>
            <p:nvPr/>
          </p:nvSpPr>
          <p:spPr>
            <a:xfrm>
              <a:off x="0" y="-38100"/>
              <a:ext cx="1388248" cy="139023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3434015" y="7458821"/>
            <a:ext cx="5924025" cy="4546689"/>
          </a:xfrm>
          <a:custGeom>
            <a:avLst/>
            <a:gdLst/>
            <a:ahLst/>
            <a:cxnLst/>
            <a:rect l="l" t="t" r="r" b="b"/>
            <a:pathLst>
              <a:path w="5924025" h="4546689">
                <a:moveTo>
                  <a:pt x="0" y="0"/>
                </a:moveTo>
                <a:lnTo>
                  <a:pt x="5924025" y="0"/>
                </a:lnTo>
                <a:lnTo>
                  <a:pt x="5924025" y="4546690"/>
                </a:lnTo>
                <a:lnTo>
                  <a:pt x="0" y="4546690"/>
                </a:lnTo>
                <a:lnTo>
                  <a:pt x="0" y="0"/>
                </a:lnTo>
                <a:close/>
              </a:path>
            </a:pathLst>
          </a:custGeom>
          <a:blipFill>
            <a:blip r:embed="rId2"/>
            <a:stretch>
              <a:fillRect/>
            </a:stretch>
          </a:blipFill>
        </p:spPr>
      </p:sp>
      <p:grpSp>
        <p:nvGrpSpPr>
          <p:cNvPr id="7" name="Group 7"/>
          <p:cNvGrpSpPr/>
          <p:nvPr/>
        </p:nvGrpSpPr>
        <p:grpSpPr>
          <a:xfrm>
            <a:off x="7238562" y="2710917"/>
            <a:ext cx="9071109" cy="6835961"/>
            <a:chOff x="0" y="0"/>
            <a:chExt cx="2389099" cy="1800418"/>
          </a:xfrm>
        </p:grpSpPr>
        <p:sp>
          <p:nvSpPr>
            <p:cNvPr id="8" name="Freeform 8"/>
            <p:cNvSpPr/>
            <p:nvPr/>
          </p:nvSpPr>
          <p:spPr>
            <a:xfrm>
              <a:off x="0" y="0"/>
              <a:ext cx="2389099" cy="1800418"/>
            </a:xfrm>
            <a:custGeom>
              <a:avLst/>
              <a:gdLst/>
              <a:ahLst/>
              <a:cxnLst/>
              <a:rect l="l" t="t" r="r" b="b"/>
              <a:pathLst>
                <a:path w="2389099" h="1800418">
                  <a:moveTo>
                    <a:pt x="43207" y="0"/>
                  </a:moveTo>
                  <a:lnTo>
                    <a:pt x="2345892" y="0"/>
                  </a:lnTo>
                  <a:cubicBezTo>
                    <a:pt x="2357351" y="0"/>
                    <a:pt x="2368341" y="4552"/>
                    <a:pt x="2376444" y="12655"/>
                  </a:cubicBezTo>
                  <a:cubicBezTo>
                    <a:pt x="2384547" y="20758"/>
                    <a:pt x="2389099" y="31748"/>
                    <a:pt x="2389099" y="43207"/>
                  </a:cubicBezTo>
                  <a:lnTo>
                    <a:pt x="2389099" y="1757211"/>
                  </a:lnTo>
                  <a:cubicBezTo>
                    <a:pt x="2389099" y="1768670"/>
                    <a:pt x="2384547" y="1779660"/>
                    <a:pt x="2376444" y="1787763"/>
                  </a:cubicBezTo>
                  <a:cubicBezTo>
                    <a:pt x="2368341" y="1795866"/>
                    <a:pt x="2357351" y="1800418"/>
                    <a:pt x="2345892" y="1800418"/>
                  </a:cubicBezTo>
                  <a:lnTo>
                    <a:pt x="43207" y="1800418"/>
                  </a:lnTo>
                  <a:cubicBezTo>
                    <a:pt x="31748" y="1800418"/>
                    <a:pt x="20758" y="1795866"/>
                    <a:pt x="12655" y="1787763"/>
                  </a:cubicBezTo>
                  <a:cubicBezTo>
                    <a:pt x="4552" y="1779660"/>
                    <a:pt x="0" y="1768670"/>
                    <a:pt x="0" y="1757211"/>
                  </a:cubicBezTo>
                  <a:lnTo>
                    <a:pt x="0" y="43207"/>
                  </a:lnTo>
                  <a:cubicBezTo>
                    <a:pt x="0" y="31748"/>
                    <a:pt x="4552" y="20758"/>
                    <a:pt x="12655" y="12655"/>
                  </a:cubicBezTo>
                  <a:cubicBezTo>
                    <a:pt x="20758" y="4552"/>
                    <a:pt x="31748" y="0"/>
                    <a:pt x="43207" y="0"/>
                  </a:cubicBezTo>
                  <a:close/>
                </a:path>
              </a:pathLst>
            </a:custGeom>
            <a:solidFill>
              <a:srgbClr val="FFFFFF"/>
            </a:solidFill>
            <a:ln w="38100" cap="rnd">
              <a:gradFill>
                <a:gsLst>
                  <a:gs pos="0">
                    <a:srgbClr val="192385">
                      <a:alpha val="100000"/>
                    </a:srgbClr>
                  </a:gs>
                  <a:gs pos="100000">
                    <a:srgbClr val="2D8BBA">
                      <a:alpha val="100000"/>
                    </a:srgbClr>
                  </a:gs>
                </a:gsLst>
                <a:lin ang="5400000"/>
              </a:gradFill>
              <a:prstDash val="solid"/>
              <a:round/>
            </a:ln>
          </p:spPr>
        </p:sp>
        <p:sp>
          <p:nvSpPr>
            <p:cNvPr id="9" name="TextBox 9"/>
            <p:cNvSpPr txBox="1"/>
            <p:nvPr/>
          </p:nvSpPr>
          <p:spPr>
            <a:xfrm>
              <a:off x="0" y="-38100"/>
              <a:ext cx="2389099" cy="1838518"/>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2078885" y="-1028700"/>
            <a:ext cx="4062430" cy="41148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1983545" y="3083989"/>
            <a:ext cx="4314830" cy="4080923"/>
          </a:xfrm>
          <a:prstGeom prst="rect">
            <a:avLst/>
          </a:prstGeom>
        </p:spPr>
        <p:txBody>
          <a:bodyPr lIns="0" tIns="0" rIns="0" bIns="0" rtlCol="0" anchor="t">
            <a:spAutoFit/>
          </a:bodyPr>
          <a:lstStyle/>
          <a:p>
            <a:pPr algn="l">
              <a:lnSpc>
                <a:spcPts val="2952"/>
              </a:lnSpc>
            </a:pPr>
            <a:r>
              <a:rPr lang="en-US" sz="2108" spc="23">
                <a:solidFill>
                  <a:srgbClr val="FFFFFF"/>
                </a:solidFill>
                <a:latin typeface="Krub"/>
                <a:ea typeface="Krub"/>
                <a:cs typeface="Krub"/>
                <a:sym typeface="Krub"/>
              </a:rPr>
              <a:t>Chatbot là chương trình hoặc ứng dụng có thể trò chuyện với người dùng bằng giọng nói hoặc văn bản. Bạn có thể đã sử dụng chatbot để hỗ trợ bán hàng hoặc hỗ trợ dịch vụ khách hàng trực tuyến. Các bot sẽ mô phỏng cuộc trò chuyện của con người và cố gắng trả lời các truy vấn của bạn trước khi chuyển bạn đến một đại diện là người thật.</a:t>
            </a:r>
          </a:p>
        </p:txBody>
      </p:sp>
      <p:sp>
        <p:nvSpPr>
          <p:cNvPr id="13" name="TextBox 13"/>
          <p:cNvSpPr txBox="1"/>
          <p:nvPr/>
        </p:nvSpPr>
        <p:spPr>
          <a:xfrm>
            <a:off x="7761466" y="3690716"/>
            <a:ext cx="8025299" cy="1740008"/>
          </a:xfrm>
          <a:prstGeom prst="rect">
            <a:avLst/>
          </a:prstGeom>
        </p:spPr>
        <p:txBody>
          <a:bodyPr lIns="0" tIns="0" rIns="0" bIns="0" rtlCol="0" anchor="t">
            <a:spAutoFit/>
          </a:bodyPr>
          <a:lstStyle/>
          <a:p>
            <a:pPr marL="430884" lvl="1" indent="-215442" algn="l">
              <a:lnSpc>
                <a:spcPts val="2794"/>
              </a:lnSpc>
              <a:buFont typeface="Arial"/>
              <a:buChar char="•"/>
            </a:pPr>
            <a:r>
              <a:rPr lang="en-US" sz="1995" b="1" spc="21">
                <a:solidFill>
                  <a:srgbClr val="090147"/>
                </a:solidFill>
                <a:latin typeface="Krub Bold"/>
                <a:ea typeface="Krub Bold"/>
                <a:cs typeface="Krub Bold"/>
                <a:sym typeface="Krub Bold"/>
              </a:rPr>
              <a:t>Chatbot dựa trên quy tắc: </a:t>
            </a:r>
          </a:p>
          <a:p>
            <a:pPr algn="l">
              <a:lnSpc>
                <a:spcPts val="2794"/>
              </a:lnSpc>
            </a:pPr>
            <a:r>
              <a:rPr lang="en-US" sz="1995" spc="21">
                <a:solidFill>
                  <a:srgbClr val="090147"/>
                </a:solidFill>
                <a:latin typeface="Krub"/>
                <a:ea typeface="Krub"/>
                <a:cs typeface="Krub"/>
                <a:sym typeface="Krub"/>
              </a:rPr>
              <a:t>Công nghệ chatbot dựa trên quy tắc là phiên bản đơn giản nhất của phần mềm chatbot. Công nghệ này cung cấp cho người dùng các nút hoặc menu để tìm kiếm thông tin cụ thể.</a:t>
            </a:r>
          </a:p>
          <a:p>
            <a:pPr algn="l">
              <a:lnSpc>
                <a:spcPts val="2794"/>
              </a:lnSpc>
            </a:pPr>
            <a:endParaRPr lang="en-US" sz="1995" spc="21">
              <a:solidFill>
                <a:srgbClr val="090147"/>
              </a:solidFill>
              <a:latin typeface="Krub"/>
              <a:ea typeface="Krub"/>
              <a:cs typeface="Krub"/>
              <a:sym typeface="Krub"/>
            </a:endParaRPr>
          </a:p>
        </p:txBody>
      </p:sp>
      <p:sp>
        <p:nvSpPr>
          <p:cNvPr id="14" name="Freeform 14"/>
          <p:cNvSpPr/>
          <p:nvPr/>
        </p:nvSpPr>
        <p:spPr>
          <a:xfrm flipH="1" flipV="1">
            <a:off x="11606912" y="-134353"/>
            <a:ext cx="7147278" cy="399354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5" name="TextBox 15"/>
          <p:cNvSpPr txBox="1"/>
          <p:nvPr/>
        </p:nvSpPr>
        <p:spPr>
          <a:xfrm>
            <a:off x="7924680" y="3028950"/>
            <a:ext cx="7817455" cy="952817"/>
          </a:xfrm>
          <a:prstGeom prst="rect">
            <a:avLst/>
          </a:prstGeom>
        </p:spPr>
        <p:txBody>
          <a:bodyPr lIns="0" tIns="0" rIns="0" bIns="0" rtlCol="0" anchor="t">
            <a:spAutoFit/>
          </a:bodyPr>
          <a:lstStyle/>
          <a:p>
            <a:pPr algn="l">
              <a:lnSpc>
                <a:spcPts val="3818"/>
              </a:lnSpc>
            </a:pPr>
            <a:r>
              <a:rPr lang="en-US" sz="2727" b="1" spc="30">
                <a:solidFill>
                  <a:srgbClr val="090147"/>
                </a:solidFill>
                <a:latin typeface="Krub Bold"/>
                <a:ea typeface="Krub Bold"/>
                <a:cs typeface="Krub Bold"/>
                <a:sym typeface="Krub Bold"/>
              </a:rPr>
              <a:t>Chatbot có những loại nào?</a:t>
            </a:r>
          </a:p>
          <a:p>
            <a:pPr algn="l">
              <a:lnSpc>
                <a:spcPts val="3818"/>
              </a:lnSpc>
            </a:pPr>
            <a:endParaRPr lang="en-US" sz="2727" b="1" spc="30">
              <a:solidFill>
                <a:srgbClr val="090147"/>
              </a:solidFill>
              <a:latin typeface="Krub Bold"/>
              <a:ea typeface="Krub Bold"/>
              <a:cs typeface="Krub Bold"/>
              <a:sym typeface="Krub Bold"/>
            </a:endParaRPr>
          </a:p>
        </p:txBody>
      </p:sp>
      <p:sp>
        <p:nvSpPr>
          <p:cNvPr id="16" name="TextBox 16"/>
          <p:cNvSpPr txBox="1"/>
          <p:nvPr/>
        </p:nvSpPr>
        <p:spPr>
          <a:xfrm>
            <a:off x="7820758" y="5244606"/>
            <a:ext cx="8025299" cy="1740008"/>
          </a:xfrm>
          <a:prstGeom prst="rect">
            <a:avLst/>
          </a:prstGeom>
        </p:spPr>
        <p:txBody>
          <a:bodyPr lIns="0" tIns="0" rIns="0" bIns="0" rtlCol="0" anchor="t">
            <a:spAutoFit/>
          </a:bodyPr>
          <a:lstStyle/>
          <a:p>
            <a:pPr marL="430884" lvl="1" indent="-215442" algn="l">
              <a:lnSpc>
                <a:spcPts val="2794"/>
              </a:lnSpc>
              <a:buFont typeface="Arial"/>
              <a:buChar char="•"/>
            </a:pPr>
            <a:r>
              <a:rPr lang="en-US" sz="1995" b="1" spc="21">
                <a:solidFill>
                  <a:srgbClr val="090147"/>
                </a:solidFill>
                <a:latin typeface="Krub Bold"/>
                <a:ea typeface="Krub Bold"/>
                <a:cs typeface="Krub Bold"/>
                <a:sym typeface="Krub Bold"/>
              </a:rPr>
              <a:t>Chatbot dựa trên từ khóa</a:t>
            </a:r>
          </a:p>
          <a:p>
            <a:pPr algn="l">
              <a:lnSpc>
                <a:spcPts val="2794"/>
              </a:lnSpc>
            </a:pPr>
            <a:r>
              <a:rPr lang="en-US" sz="1995" spc="21">
                <a:solidFill>
                  <a:srgbClr val="090147"/>
                </a:solidFill>
                <a:latin typeface="Krub"/>
                <a:ea typeface="Krub"/>
                <a:cs typeface="Krub"/>
                <a:sym typeface="Krub"/>
              </a:rPr>
              <a:t>Các chatbot dựa trên từ khóa hoặc chatbot khai báo sẽ trích xuất các từ khóa cụ thể từ cuộc trò chuyện và cung cấp các câu trả lời tương ứng.</a:t>
            </a:r>
          </a:p>
          <a:p>
            <a:pPr algn="l">
              <a:lnSpc>
                <a:spcPts val="2794"/>
              </a:lnSpc>
            </a:pPr>
            <a:endParaRPr lang="en-US" sz="1995" spc="21">
              <a:solidFill>
                <a:srgbClr val="090147"/>
              </a:solidFill>
              <a:latin typeface="Krub"/>
              <a:ea typeface="Krub"/>
              <a:cs typeface="Krub"/>
              <a:sym typeface="Krub"/>
            </a:endParaRPr>
          </a:p>
        </p:txBody>
      </p:sp>
      <p:sp>
        <p:nvSpPr>
          <p:cNvPr id="17" name="TextBox 17"/>
          <p:cNvSpPr txBox="1"/>
          <p:nvPr/>
        </p:nvSpPr>
        <p:spPr>
          <a:xfrm>
            <a:off x="7761466" y="6749596"/>
            <a:ext cx="8025299" cy="2797283"/>
          </a:xfrm>
          <a:prstGeom prst="rect">
            <a:avLst/>
          </a:prstGeom>
        </p:spPr>
        <p:txBody>
          <a:bodyPr lIns="0" tIns="0" rIns="0" bIns="0" rtlCol="0" anchor="t">
            <a:spAutoFit/>
          </a:bodyPr>
          <a:lstStyle/>
          <a:p>
            <a:pPr marL="430884" lvl="1" indent="-215442" algn="l">
              <a:lnSpc>
                <a:spcPts val="2794"/>
              </a:lnSpc>
              <a:buFont typeface="Arial"/>
              <a:buChar char="•"/>
            </a:pPr>
            <a:r>
              <a:rPr lang="en-US" sz="1995" b="1" spc="21">
                <a:solidFill>
                  <a:srgbClr val="090147"/>
                </a:solidFill>
                <a:latin typeface="Krub Bold"/>
                <a:ea typeface="Krub Bold"/>
                <a:cs typeface="Krub Bold"/>
                <a:sym typeface="Krub Bold"/>
              </a:rPr>
              <a:t>Chatbot dựa trên AI</a:t>
            </a:r>
          </a:p>
          <a:p>
            <a:pPr algn="l">
              <a:lnSpc>
                <a:spcPts val="2794"/>
              </a:lnSpc>
            </a:pPr>
            <a:r>
              <a:rPr lang="en-US" sz="1995" spc="21">
                <a:solidFill>
                  <a:srgbClr val="090147"/>
                </a:solidFill>
                <a:latin typeface="Krub"/>
                <a:ea typeface="Krub"/>
                <a:cs typeface="Krub"/>
                <a:sym typeface="Krub"/>
              </a:rPr>
              <a:t>Các công nghệ trí tuệ nhân tạo (AI) gần đây đã mở rộng khả năng của chatbot.</a:t>
            </a:r>
          </a:p>
          <a:p>
            <a:pPr algn="l">
              <a:lnSpc>
                <a:spcPts val="2794"/>
              </a:lnSpc>
            </a:pPr>
            <a:r>
              <a:rPr lang="en-US" sz="1995" spc="21">
                <a:solidFill>
                  <a:srgbClr val="090147"/>
                </a:solidFill>
                <a:latin typeface="Krub"/>
                <a:ea typeface="Krub"/>
                <a:cs typeface="Krub"/>
                <a:sym typeface="Krub"/>
              </a:rPr>
              <a:t>Ví dụ: chatbot hiện đại có thể cung cấp phản hồi linh hoạt cho khách hàng thay vì trả lời theo kịch bản. Để đạt được điều này, chatbot sử dụng </a:t>
            </a:r>
            <a:r>
              <a:rPr lang="en-US" sz="1995" u="sng" spc="21">
                <a:solidFill>
                  <a:srgbClr val="090147"/>
                </a:solidFill>
                <a:latin typeface="Krub"/>
                <a:ea typeface="Krub"/>
                <a:cs typeface="Krub"/>
                <a:sym typeface="Krub"/>
                <a:hlinkClick r:id="rId8" tooltip="https://aws.amazon.com/vi/what-is/nlp/"/>
              </a:rPr>
              <a:t>xử lý ngôn ngữ tự nhiên (NLP)</a:t>
            </a:r>
            <a:r>
              <a:rPr lang="en-US" sz="1995" spc="21">
                <a:solidFill>
                  <a:srgbClr val="090147"/>
                </a:solidFill>
                <a:latin typeface="Krub"/>
                <a:ea typeface="Krub"/>
                <a:cs typeface="Krub"/>
                <a:sym typeface="Krub"/>
              </a:rPr>
              <a:t>, hiểu ngôn ngữ tự nhiên (NLU) và tạo ngôn ngữ tự nhiên (NLG).</a:t>
            </a:r>
          </a:p>
          <a:p>
            <a:pPr algn="l">
              <a:lnSpc>
                <a:spcPts val="2794"/>
              </a:lnSpc>
            </a:pPr>
            <a:endParaRPr lang="en-US" sz="1995" spc="21">
              <a:solidFill>
                <a:srgbClr val="090147"/>
              </a:solidFill>
              <a:latin typeface="Krub"/>
              <a:ea typeface="Krub"/>
              <a:cs typeface="Krub"/>
              <a:sym typeface="Krub"/>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042209"/>
            <a:ext cx="6545941" cy="1028674"/>
          </a:xfrm>
          <a:prstGeom prst="rect">
            <a:avLst/>
          </a:prstGeom>
        </p:spPr>
        <p:txBody>
          <a:bodyPr lIns="0" tIns="0" rIns="0" bIns="0" rtlCol="0" anchor="t">
            <a:spAutoFit/>
          </a:bodyPr>
          <a:lstStyle/>
          <a:p>
            <a:pPr algn="ctr">
              <a:lnSpc>
                <a:spcPts val="6641"/>
              </a:lnSpc>
            </a:pPr>
            <a:r>
              <a:rPr lang="en-US" sz="6846">
                <a:solidFill>
                  <a:srgbClr val="090147"/>
                </a:solidFill>
                <a:latin typeface="Bungee"/>
                <a:ea typeface="Bungee"/>
                <a:cs typeface="Bungee"/>
                <a:sym typeface="Bungee"/>
              </a:rPr>
              <a:t>NLP</a:t>
            </a:r>
          </a:p>
        </p:txBody>
      </p:sp>
      <p:grpSp>
        <p:nvGrpSpPr>
          <p:cNvPr id="3" name="Group 3"/>
          <p:cNvGrpSpPr/>
          <p:nvPr/>
        </p:nvGrpSpPr>
        <p:grpSpPr>
          <a:xfrm>
            <a:off x="1461917" y="2710917"/>
            <a:ext cx="4056926" cy="5825221"/>
            <a:chOff x="0" y="0"/>
            <a:chExt cx="1068491" cy="1534215"/>
          </a:xfrm>
        </p:grpSpPr>
        <p:sp>
          <p:nvSpPr>
            <p:cNvPr id="4" name="Freeform 4"/>
            <p:cNvSpPr/>
            <p:nvPr/>
          </p:nvSpPr>
          <p:spPr>
            <a:xfrm>
              <a:off x="0" y="0"/>
              <a:ext cx="1068491" cy="1534215"/>
            </a:xfrm>
            <a:custGeom>
              <a:avLst/>
              <a:gdLst/>
              <a:ahLst/>
              <a:cxnLst/>
              <a:rect l="l" t="t" r="r" b="b"/>
              <a:pathLst>
                <a:path w="1068491" h="1534215">
                  <a:moveTo>
                    <a:pt x="96609" y="0"/>
                  </a:moveTo>
                  <a:lnTo>
                    <a:pt x="971882" y="0"/>
                  </a:lnTo>
                  <a:cubicBezTo>
                    <a:pt x="1025238" y="0"/>
                    <a:pt x="1068491" y="43253"/>
                    <a:pt x="1068491" y="96609"/>
                  </a:cubicBezTo>
                  <a:lnTo>
                    <a:pt x="1068491" y="1437606"/>
                  </a:lnTo>
                  <a:cubicBezTo>
                    <a:pt x="1068491" y="1463228"/>
                    <a:pt x="1058312" y="1487801"/>
                    <a:pt x="1040195" y="1505919"/>
                  </a:cubicBezTo>
                  <a:cubicBezTo>
                    <a:pt x="1022077" y="1524036"/>
                    <a:pt x="997504" y="1534215"/>
                    <a:pt x="971882" y="1534215"/>
                  </a:cubicBezTo>
                  <a:lnTo>
                    <a:pt x="96609" y="1534215"/>
                  </a:lnTo>
                  <a:cubicBezTo>
                    <a:pt x="70987" y="1534215"/>
                    <a:pt x="46414" y="1524036"/>
                    <a:pt x="28296" y="1505919"/>
                  </a:cubicBezTo>
                  <a:cubicBezTo>
                    <a:pt x="10178" y="1487801"/>
                    <a:pt x="0" y="1463228"/>
                    <a:pt x="0" y="1437606"/>
                  </a:cubicBezTo>
                  <a:lnTo>
                    <a:pt x="0" y="96609"/>
                  </a:lnTo>
                  <a:cubicBezTo>
                    <a:pt x="0" y="70987"/>
                    <a:pt x="10178" y="46414"/>
                    <a:pt x="28296" y="28296"/>
                  </a:cubicBezTo>
                  <a:cubicBezTo>
                    <a:pt x="46414" y="10178"/>
                    <a:pt x="70987" y="0"/>
                    <a:pt x="96609" y="0"/>
                  </a:cubicBezTo>
                  <a:close/>
                </a:path>
              </a:pathLst>
            </a:custGeom>
            <a:gradFill rotWithShape="1">
              <a:gsLst>
                <a:gs pos="0">
                  <a:srgbClr val="192385">
                    <a:alpha val="100000"/>
                  </a:srgbClr>
                </a:gs>
                <a:gs pos="100000">
                  <a:srgbClr val="2D8BBA">
                    <a:alpha val="100000"/>
                  </a:srgbClr>
                </a:gs>
              </a:gsLst>
              <a:lin ang="5400000"/>
            </a:gradFill>
          </p:spPr>
        </p:sp>
        <p:sp>
          <p:nvSpPr>
            <p:cNvPr id="5" name="TextBox 5"/>
            <p:cNvSpPr txBox="1"/>
            <p:nvPr/>
          </p:nvSpPr>
          <p:spPr>
            <a:xfrm>
              <a:off x="0" y="-38100"/>
              <a:ext cx="1068491" cy="157231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2078885" y="-1028700"/>
            <a:ext cx="4062430" cy="41148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3434015" y="7458821"/>
            <a:ext cx="5924025" cy="4546689"/>
          </a:xfrm>
          <a:custGeom>
            <a:avLst/>
            <a:gdLst/>
            <a:ahLst/>
            <a:cxnLst/>
            <a:rect l="l" t="t" r="r" b="b"/>
            <a:pathLst>
              <a:path w="5924025" h="4546689">
                <a:moveTo>
                  <a:pt x="0" y="0"/>
                </a:moveTo>
                <a:lnTo>
                  <a:pt x="5924025" y="0"/>
                </a:lnTo>
                <a:lnTo>
                  <a:pt x="5924025" y="4546690"/>
                </a:lnTo>
                <a:lnTo>
                  <a:pt x="0" y="4546690"/>
                </a:lnTo>
                <a:lnTo>
                  <a:pt x="0" y="0"/>
                </a:lnTo>
                <a:close/>
              </a:path>
            </a:pathLst>
          </a:custGeom>
          <a:blipFill>
            <a:blip r:embed="rId6"/>
            <a:stretch>
              <a:fillRect/>
            </a:stretch>
          </a:blipFill>
        </p:spPr>
      </p:sp>
      <p:sp>
        <p:nvSpPr>
          <p:cNvPr id="9" name="Freeform 9"/>
          <p:cNvSpPr/>
          <p:nvPr/>
        </p:nvSpPr>
        <p:spPr>
          <a:xfrm flipH="1" flipV="1">
            <a:off x="11606912" y="-134353"/>
            <a:ext cx="7147278" cy="399354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0" name="Freeform 10"/>
          <p:cNvSpPr/>
          <p:nvPr/>
        </p:nvSpPr>
        <p:spPr>
          <a:xfrm>
            <a:off x="6291327" y="2710917"/>
            <a:ext cx="10104700" cy="5825221"/>
          </a:xfrm>
          <a:custGeom>
            <a:avLst/>
            <a:gdLst/>
            <a:ahLst/>
            <a:cxnLst/>
            <a:rect l="l" t="t" r="r" b="b"/>
            <a:pathLst>
              <a:path w="10104700" h="5825221">
                <a:moveTo>
                  <a:pt x="0" y="0"/>
                </a:moveTo>
                <a:lnTo>
                  <a:pt x="10104700" y="0"/>
                </a:lnTo>
                <a:lnTo>
                  <a:pt x="10104700" y="5825222"/>
                </a:lnTo>
                <a:lnTo>
                  <a:pt x="0" y="5825222"/>
                </a:lnTo>
                <a:lnTo>
                  <a:pt x="0" y="0"/>
                </a:lnTo>
                <a:close/>
              </a:path>
            </a:pathLst>
          </a:custGeom>
          <a:blipFill>
            <a:blip r:embed="rId8"/>
            <a:stretch>
              <a:fillRect l="-9848" r="-220"/>
            </a:stretch>
          </a:blipFill>
        </p:spPr>
      </p:sp>
      <p:sp>
        <p:nvSpPr>
          <p:cNvPr id="11" name="TextBox 11"/>
          <p:cNvSpPr txBox="1"/>
          <p:nvPr/>
        </p:nvSpPr>
        <p:spPr>
          <a:xfrm>
            <a:off x="1895528" y="3762375"/>
            <a:ext cx="3189704" cy="3502133"/>
          </a:xfrm>
          <a:prstGeom prst="rect">
            <a:avLst/>
          </a:prstGeom>
        </p:spPr>
        <p:txBody>
          <a:bodyPr lIns="0" tIns="0" rIns="0" bIns="0" rtlCol="0" anchor="t">
            <a:spAutoFit/>
          </a:bodyPr>
          <a:lstStyle/>
          <a:p>
            <a:pPr algn="l">
              <a:lnSpc>
                <a:spcPts val="2794"/>
              </a:lnSpc>
            </a:pPr>
            <a:r>
              <a:rPr lang="en-US" sz="1995" spc="21">
                <a:solidFill>
                  <a:srgbClr val="FFFFFF"/>
                </a:solidFill>
                <a:latin typeface="Krub"/>
                <a:ea typeface="Krub"/>
                <a:cs typeface="Krub"/>
                <a:sym typeface="Krub"/>
              </a:rPr>
              <a:t>NLP (Natural Language Processing – Xử lý ngôn ngữ tự nhiên) là một nhánh của trí tuệ nhân tạo (AI) cho phép máy tính hiểu, phân tích, xử lý và tạo ra ngôn ngữ của con người dưới dạng văn bản và giọng nói một cách tự nhiên.</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grpSp>
        <p:nvGrpSpPr>
          <p:cNvPr id="2" name="Group 2"/>
          <p:cNvGrpSpPr/>
          <p:nvPr/>
        </p:nvGrpSpPr>
        <p:grpSpPr>
          <a:xfrm>
            <a:off x="2147050" y="2772025"/>
            <a:ext cx="13993900" cy="2174328"/>
            <a:chOff x="0" y="0"/>
            <a:chExt cx="3685636" cy="572663"/>
          </a:xfrm>
        </p:grpSpPr>
        <p:sp>
          <p:nvSpPr>
            <p:cNvPr id="3" name="Freeform 3"/>
            <p:cNvSpPr/>
            <p:nvPr/>
          </p:nvSpPr>
          <p:spPr>
            <a:xfrm>
              <a:off x="0" y="0"/>
              <a:ext cx="3685636" cy="572663"/>
            </a:xfrm>
            <a:custGeom>
              <a:avLst/>
              <a:gdLst/>
              <a:ahLst/>
              <a:cxnLst/>
              <a:rect l="l" t="t" r="r" b="b"/>
              <a:pathLst>
                <a:path w="3685636" h="572663">
                  <a:moveTo>
                    <a:pt x="28008" y="0"/>
                  </a:moveTo>
                  <a:lnTo>
                    <a:pt x="3657629" y="0"/>
                  </a:lnTo>
                  <a:cubicBezTo>
                    <a:pt x="3665057" y="0"/>
                    <a:pt x="3672181" y="2951"/>
                    <a:pt x="3677433" y="8203"/>
                  </a:cubicBezTo>
                  <a:cubicBezTo>
                    <a:pt x="3682686" y="13456"/>
                    <a:pt x="3685636" y="20579"/>
                    <a:pt x="3685636" y="28008"/>
                  </a:cubicBezTo>
                  <a:lnTo>
                    <a:pt x="3685636" y="544655"/>
                  </a:lnTo>
                  <a:cubicBezTo>
                    <a:pt x="3685636" y="560123"/>
                    <a:pt x="3673097" y="572663"/>
                    <a:pt x="3657629" y="572663"/>
                  </a:cubicBezTo>
                  <a:lnTo>
                    <a:pt x="28008" y="572663"/>
                  </a:lnTo>
                  <a:cubicBezTo>
                    <a:pt x="12539" y="572663"/>
                    <a:pt x="0" y="560123"/>
                    <a:pt x="0" y="544655"/>
                  </a:cubicBezTo>
                  <a:lnTo>
                    <a:pt x="0" y="28008"/>
                  </a:lnTo>
                  <a:cubicBezTo>
                    <a:pt x="0" y="12539"/>
                    <a:pt x="12539" y="0"/>
                    <a:pt x="28008" y="0"/>
                  </a:cubicBezTo>
                  <a:close/>
                </a:path>
              </a:pathLst>
            </a:custGeom>
            <a:gradFill rotWithShape="1">
              <a:gsLst>
                <a:gs pos="0">
                  <a:srgbClr val="192385">
                    <a:alpha val="100000"/>
                  </a:srgbClr>
                </a:gs>
                <a:gs pos="100000">
                  <a:srgbClr val="2D8BBA">
                    <a:alpha val="100000"/>
                  </a:srgbClr>
                </a:gs>
              </a:gsLst>
              <a:lin ang="5400000"/>
            </a:gradFill>
          </p:spPr>
        </p:sp>
        <p:sp>
          <p:nvSpPr>
            <p:cNvPr id="4" name="TextBox 4"/>
            <p:cNvSpPr txBox="1"/>
            <p:nvPr/>
          </p:nvSpPr>
          <p:spPr>
            <a:xfrm>
              <a:off x="0" y="-38100"/>
              <a:ext cx="3685636" cy="61076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078885" y="-1028700"/>
            <a:ext cx="4062430" cy="41148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3434015" y="7458821"/>
            <a:ext cx="5924025" cy="4546689"/>
          </a:xfrm>
          <a:custGeom>
            <a:avLst/>
            <a:gdLst/>
            <a:ahLst/>
            <a:cxnLst/>
            <a:rect l="l" t="t" r="r" b="b"/>
            <a:pathLst>
              <a:path w="5924025" h="4546689">
                <a:moveTo>
                  <a:pt x="0" y="0"/>
                </a:moveTo>
                <a:lnTo>
                  <a:pt x="5924025" y="0"/>
                </a:lnTo>
                <a:lnTo>
                  <a:pt x="5924025" y="4546690"/>
                </a:lnTo>
                <a:lnTo>
                  <a:pt x="0" y="4546690"/>
                </a:lnTo>
                <a:lnTo>
                  <a:pt x="0" y="0"/>
                </a:lnTo>
                <a:close/>
              </a:path>
            </a:pathLst>
          </a:custGeom>
          <a:blipFill>
            <a:blip r:embed="rId6"/>
            <a:stretch>
              <a:fillRect/>
            </a:stretch>
          </a:blipFill>
        </p:spPr>
      </p:sp>
      <p:sp>
        <p:nvSpPr>
          <p:cNvPr id="8" name="Freeform 8"/>
          <p:cNvSpPr/>
          <p:nvPr/>
        </p:nvSpPr>
        <p:spPr>
          <a:xfrm flipH="1" flipV="1">
            <a:off x="11606912" y="-134353"/>
            <a:ext cx="7147278" cy="399354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9" name="TextBox 9"/>
          <p:cNvSpPr txBox="1"/>
          <p:nvPr/>
        </p:nvSpPr>
        <p:spPr>
          <a:xfrm>
            <a:off x="3352868" y="519125"/>
            <a:ext cx="12512816" cy="1028674"/>
          </a:xfrm>
          <a:prstGeom prst="rect">
            <a:avLst/>
          </a:prstGeom>
        </p:spPr>
        <p:txBody>
          <a:bodyPr lIns="0" tIns="0" rIns="0" bIns="0" rtlCol="0" anchor="t">
            <a:spAutoFit/>
          </a:bodyPr>
          <a:lstStyle/>
          <a:p>
            <a:pPr algn="ctr">
              <a:lnSpc>
                <a:spcPts val="6641"/>
              </a:lnSpc>
            </a:pPr>
            <a:r>
              <a:rPr lang="en-US" sz="6846">
                <a:solidFill>
                  <a:srgbClr val="090147"/>
                </a:solidFill>
                <a:latin typeface="Bungee"/>
                <a:ea typeface="Bungee"/>
                <a:cs typeface="Bungee"/>
                <a:sym typeface="Bungee"/>
              </a:rPr>
              <a:t>mongodb cho database</a:t>
            </a:r>
          </a:p>
        </p:txBody>
      </p:sp>
      <p:sp>
        <p:nvSpPr>
          <p:cNvPr id="10" name="TextBox 10"/>
          <p:cNvSpPr txBox="1"/>
          <p:nvPr/>
        </p:nvSpPr>
        <p:spPr>
          <a:xfrm>
            <a:off x="2668678" y="2974897"/>
            <a:ext cx="13197006" cy="1740008"/>
          </a:xfrm>
          <a:prstGeom prst="rect">
            <a:avLst/>
          </a:prstGeom>
        </p:spPr>
        <p:txBody>
          <a:bodyPr lIns="0" tIns="0" rIns="0" bIns="0" rtlCol="0" anchor="t">
            <a:spAutoFit/>
          </a:bodyPr>
          <a:lstStyle/>
          <a:p>
            <a:pPr algn="l">
              <a:lnSpc>
                <a:spcPts val="2794"/>
              </a:lnSpc>
            </a:pPr>
            <a:r>
              <a:rPr lang="en-US" sz="1995" u="sng" spc="21">
                <a:solidFill>
                  <a:srgbClr val="FFFFFF"/>
                </a:solidFill>
                <a:latin typeface="Krub"/>
                <a:ea typeface="Krub"/>
                <a:cs typeface="Krub"/>
                <a:sym typeface="Krub"/>
                <a:hlinkClick r:id="rId8" tooltip="https://interdata.vn/blog/mongodb-la-gi/"/>
              </a:rPr>
              <a:t>MongoDB</a:t>
            </a:r>
            <a:r>
              <a:rPr lang="en-US" sz="1995" spc="21">
                <a:solidFill>
                  <a:srgbClr val="FFFFFF"/>
                </a:solidFill>
                <a:latin typeface="Krub"/>
                <a:ea typeface="Krub"/>
                <a:cs typeface="Krub"/>
                <a:sym typeface="Krub"/>
              </a:rPr>
              <a:t> về cơ bản là một hệ quản trị cơ sở dữ liệu (DBMS – Database Management System) thuộc loại NoSQL, có </a:t>
            </a:r>
            <a:r>
              <a:rPr lang="en-US" sz="1995" u="sng" spc="21">
                <a:solidFill>
                  <a:srgbClr val="FFFFFF"/>
                </a:solidFill>
                <a:latin typeface="Krub"/>
                <a:ea typeface="Krub"/>
                <a:cs typeface="Krub"/>
                <a:sym typeface="Krub"/>
                <a:hlinkClick r:id="rId9" tooltip="https://interdata.vn/blog/open-source-la-gi/"/>
              </a:rPr>
              <a:t>mã nguồn mở</a:t>
            </a:r>
            <a:r>
              <a:rPr lang="en-US" sz="1995" spc="21">
                <a:solidFill>
                  <a:srgbClr val="FFFFFF"/>
                </a:solidFill>
                <a:latin typeface="Krub"/>
                <a:ea typeface="Krub"/>
                <a:cs typeface="Krub"/>
                <a:sym typeface="Krub"/>
              </a:rPr>
              <a:t>. Thuật ngữ “NoSQL” (Not Only SQL) ở đây nhấn mạnh rằng MongoDB không dựa trên mô hình quan hệ và ngôn ngữ truy vấn SQL quen thuộc. Thay vào đó, việc nó “hướng tài liệu” (document-oriented) có nghĩa là dữ liệu được tổ chức thành các bộ sưu tập (collections), mỗi bộ sưu tập chứa các tài liệu có thể có cấu trúc khác nhau.</a:t>
            </a:r>
          </a:p>
        </p:txBody>
      </p:sp>
      <p:grpSp>
        <p:nvGrpSpPr>
          <p:cNvPr id="11" name="Group 11"/>
          <p:cNvGrpSpPr/>
          <p:nvPr/>
        </p:nvGrpSpPr>
        <p:grpSpPr>
          <a:xfrm>
            <a:off x="2270231" y="5651203"/>
            <a:ext cx="13993900" cy="2174328"/>
            <a:chOff x="0" y="0"/>
            <a:chExt cx="3685636" cy="572663"/>
          </a:xfrm>
        </p:grpSpPr>
        <p:sp>
          <p:nvSpPr>
            <p:cNvPr id="12" name="Freeform 12"/>
            <p:cNvSpPr/>
            <p:nvPr/>
          </p:nvSpPr>
          <p:spPr>
            <a:xfrm>
              <a:off x="0" y="0"/>
              <a:ext cx="3685636" cy="572663"/>
            </a:xfrm>
            <a:custGeom>
              <a:avLst/>
              <a:gdLst/>
              <a:ahLst/>
              <a:cxnLst/>
              <a:rect l="l" t="t" r="r" b="b"/>
              <a:pathLst>
                <a:path w="3685636" h="572663">
                  <a:moveTo>
                    <a:pt x="28008" y="0"/>
                  </a:moveTo>
                  <a:lnTo>
                    <a:pt x="3657629" y="0"/>
                  </a:lnTo>
                  <a:cubicBezTo>
                    <a:pt x="3665057" y="0"/>
                    <a:pt x="3672181" y="2951"/>
                    <a:pt x="3677433" y="8203"/>
                  </a:cubicBezTo>
                  <a:cubicBezTo>
                    <a:pt x="3682686" y="13456"/>
                    <a:pt x="3685636" y="20579"/>
                    <a:pt x="3685636" y="28008"/>
                  </a:cubicBezTo>
                  <a:lnTo>
                    <a:pt x="3685636" y="544655"/>
                  </a:lnTo>
                  <a:cubicBezTo>
                    <a:pt x="3685636" y="560123"/>
                    <a:pt x="3673097" y="572663"/>
                    <a:pt x="3657629" y="572663"/>
                  </a:cubicBezTo>
                  <a:lnTo>
                    <a:pt x="28008" y="572663"/>
                  </a:lnTo>
                  <a:cubicBezTo>
                    <a:pt x="12539" y="572663"/>
                    <a:pt x="0" y="560123"/>
                    <a:pt x="0" y="544655"/>
                  </a:cubicBezTo>
                  <a:lnTo>
                    <a:pt x="0" y="28008"/>
                  </a:lnTo>
                  <a:cubicBezTo>
                    <a:pt x="0" y="12539"/>
                    <a:pt x="12539" y="0"/>
                    <a:pt x="28008" y="0"/>
                  </a:cubicBezTo>
                  <a:close/>
                </a:path>
              </a:pathLst>
            </a:custGeom>
            <a:gradFill rotWithShape="1">
              <a:gsLst>
                <a:gs pos="0">
                  <a:srgbClr val="192385">
                    <a:alpha val="100000"/>
                  </a:srgbClr>
                </a:gs>
                <a:gs pos="100000">
                  <a:srgbClr val="2D8BBA">
                    <a:alpha val="100000"/>
                  </a:srgbClr>
                </a:gs>
              </a:gsLst>
              <a:lin ang="5400000"/>
            </a:gradFill>
          </p:spPr>
        </p:sp>
        <p:sp>
          <p:nvSpPr>
            <p:cNvPr id="13" name="TextBox 13"/>
            <p:cNvSpPr txBox="1"/>
            <p:nvPr/>
          </p:nvSpPr>
          <p:spPr>
            <a:xfrm>
              <a:off x="0" y="-38100"/>
              <a:ext cx="3685636" cy="610763"/>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791859" y="6030288"/>
            <a:ext cx="13197006" cy="1387583"/>
          </a:xfrm>
          <a:prstGeom prst="rect">
            <a:avLst/>
          </a:prstGeom>
        </p:spPr>
        <p:txBody>
          <a:bodyPr lIns="0" tIns="0" rIns="0" bIns="0" rtlCol="0" anchor="t">
            <a:spAutoFit/>
          </a:bodyPr>
          <a:lstStyle/>
          <a:p>
            <a:pPr algn="l">
              <a:lnSpc>
                <a:spcPts val="2794"/>
              </a:lnSpc>
            </a:pPr>
            <a:r>
              <a:rPr lang="en-US" sz="1995" spc="21">
                <a:solidFill>
                  <a:srgbClr val="FFFFFF"/>
                </a:solidFill>
                <a:latin typeface="Krub"/>
                <a:ea typeface="Krub"/>
                <a:cs typeface="Krub"/>
                <a:sym typeface="Krub"/>
              </a:rPr>
              <a:t>Trong MongoDB, Database đơn giản là một container vật lý chứa các collection. Bạn có thể hình dung nó tương tự như một database trong hệ thống CSDL quan hệ. Một </a:t>
            </a:r>
            <a:r>
              <a:rPr lang="en-US" sz="1995" u="sng" spc="21">
                <a:solidFill>
                  <a:srgbClr val="FFFFFF"/>
                </a:solidFill>
                <a:latin typeface="Krub"/>
                <a:ea typeface="Krub"/>
                <a:cs typeface="Krub"/>
                <a:sym typeface="Krub"/>
                <a:hlinkClick r:id="rId10" tooltip="https://interdata.vn/blog/may-chu-server-la-gi/"/>
              </a:rPr>
              <a:t>máy chủ</a:t>
            </a:r>
            <a:r>
              <a:rPr lang="en-US" sz="1995" spc="21">
                <a:solidFill>
                  <a:srgbClr val="FFFFFF"/>
                </a:solidFill>
                <a:latin typeface="Krub"/>
                <a:ea typeface="Krub"/>
                <a:cs typeface="Krub"/>
                <a:sym typeface="Krub"/>
              </a:rPr>
              <a:t> MongoDB (MongoDB server) có thể quản lý nhiều database riêng biệt, mỗi database thường được sử dụng cho một ứng dụng hoặc một môi trường (development, production) khác nhau.</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Freeform 2"/>
          <p:cNvSpPr/>
          <p:nvPr/>
        </p:nvSpPr>
        <p:spPr>
          <a:xfrm>
            <a:off x="-2078885" y="-1028700"/>
            <a:ext cx="4062430" cy="41148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434015" y="7458821"/>
            <a:ext cx="5924025" cy="4546689"/>
          </a:xfrm>
          <a:custGeom>
            <a:avLst/>
            <a:gdLst/>
            <a:ahLst/>
            <a:cxnLst/>
            <a:rect l="l" t="t" r="r" b="b"/>
            <a:pathLst>
              <a:path w="5924025" h="4546689">
                <a:moveTo>
                  <a:pt x="0" y="0"/>
                </a:moveTo>
                <a:lnTo>
                  <a:pt x="5924025" y="0"/>
                </a:lnTo>
                <a:lnTo>
                  <a:pt x="5924025" y="4546690"/>
                </a:lnTo>
                <a:lnTo>
                  <a:pt x="0" y="4546690"/>
                </a:lnTo>
                <a:lnTo>
                  <a:pt x="0" y="0"/>
                </a:lnTo>
                <a:close/>
              </a:path>
            </a:pathLst>
          </a:custGeom>
          <a:blipFill>
            <a:blip r:embed="rId6"/>
            <a:stretch>
              <a:fillRect/>
            </a:stretch>
          </a:blipFill>
        </p:spPr>
      </p:sp>
      <p:sp>
        <p:nvSpPr>
          <p:cNvPr id="5" name="Freeform 5"/>
          <p:cNvSpPr/>
          <p:nvPr/>
        </p:nvSpPr>
        <p:spPr>
          <a:xfrm>
            <a:off x="15261453" y="-505617"/>
            <a:ext cx="3486358" cy="4114800"/>
          </a:xfrm>
          <a:custGeom>
            <a:avLst/>
            <a:gdLst/>
            <a:ahLst/>
            <a:cxnLst/>
            <a:rect l="l" t="t" r="r" b="b"/>
            <a:pathLst>
              <a:path w="3486358" h="4114800">
                <a:moveTo>
                  <a:pt x="0" y="0"/>
                </a:moveTo>
                <a:lnTo>
                  <a:pt x="3486357" y="0"/>
                </a:lnTo>
                <a:lnTo>
                  <a:pt x="348635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5556259" y="523109"/>
            <a:ext cx="7175481" cy="1028674"/>
          </a:xfrm>
          <a:prstGeom prst="rect">
            <a:avLst/>
          </a:prstGeom>
        </p:spPr>
        <p:txBody>
          <a:bodyPr lIns="0" tIns="0" rIns="0" bIns="0" rtlCol="0" anchor="t">
            <a:spAutoFit/>
          </a:bodyPr>
          <a:lstStyle/>
          <a:p>
            <a:pPr algn="ctr">
              <a:lnSpc>
                <a:spcPts val="6641"/>
              </a:lnSpc>
            </a:pPr>
            <a:r>
              <a:rPr lang="en-US" sz="6846">
                <a:solidFill>
                  <a:srgbClr val="090147"/>
                </a:solidFill>
                <a:latin typeface="Bungee"/>
                <a:ea typeface="Bungee"/>
                <a:cs typeface="Bungee"/>
                <a:sym typeface="Bungee"/>
              </a:rPr>
              <a:t>Qwen 2.5-0.5B</a:t>
            </a:r>
          </a:p>
        </p:txBody>
      </p:sp>
      <p:grpSp>
        <p:nvGrpSpPr>
          <p:cNvPr id="7" name="Group 7"/>
          <p:cNvGrpSpPr/>
          <p:nvPr/>
        </p:nvGrpSpPr>
        <p:grpSpPr>
          <a:xfrm>
            <a:off x="1983545" y="2139906"/>
            <a:ext cx="5271005" cy="5501571"/>
            <a:chOff x="0" y="0"/>
            <a:chExt cx="7028007" cy="7335428"/>
          </a:xfrm>
        </p:grpSpPr>
        <p:grpSp>
          <p:nvGrpSpPr>
            <p:cNvPr id="8" name="Group 8"/>
            <p:cNvGrpSpPr/>
            <p:nvPr/>
          </p:nvGrpSpPr>
          <p:grpSpPr>
            <a:xfrm>
              <a:off x="0" y="0"/>
              <a:ext cx="7028007" cy="7335428"/>
              <a:chOff x="0" y="0"/>
              <a:chExt cx="1388248" cy="1448973"/>
            </a:xfrm>
          </p:grpSpPr>
          <p:sp>
            <p:nvSpPr>
              <p:cNvPr id="9" name="Freeform 9"/>
              <p:cNvSpPr/>
              <p:nvPr/>
            </p:nvSpPr>
            <p:spPr>
              <a:xfrm>
                <a:off x="0" y="0"/>
                <a:ext cx="1388248" cy="1448973"/>
              </a:xfrm>
              <a:custGeom>
                <a:avLst/>
                <a:gdLst/>
                <a:ahLst/>
                <a:cxnLst/>
                <a:rect l="l" t="t" r="r" b="b"/>
                <a:pathLst>
                  <a:path w="1388248" h="1448973">
                    <a:moveTo>
                      <a:pt x="74357" y="0"/>
                    </a:moveTo>
                    <a:lnTo>
                      <a:pt x="1313892" y="0"/>
                    </a:lnTo>
                    <a:cubicBezTo>
                      <a:pt x="1333612" y="0"/>
                      <a:pt x="1352525" y="7834"/>
                      <a:pt x="1366470" y="21779"/>
                    </a:cubicBezTo>
                    <a:cubicBezTo>
                      <a:pt x="1380414" y="35723"/>
                      <a:pt x="1388248" y="54636"/>
                      <a:pt x="1388248" y="74357"/>
                    </a:cubicBezTo>
                    <a:lnTo>
                      <a:pt x="1388248" y="1374617"/>
                    </a:lnTo>
                    <a:cubicBezTo>
                      <a:pt x="1388248" y="1394337"/>
                      <a:pt x="1380414" y="1413250"/>
                      <a:pt x="1366470" y="1427195"/>
                    </a:cubicBezTo>
                    <a:cubicBezTo>
                      <a:pt x="1352525" y="1441139"/>
                      <a:pt x="1333612" y="1448973"/>
                      <a:pt x="1313892" y="1448973"/>
                    </a:cubicBezTo>
                    <a:lnTo>
                      <a:pt x="74357" y="1448973"/>
                    </a:lnTo>
                    <a:cubicBezTo>
                      <a:pt x="33291" y="1448973"/>
                      <a:pt x="0" y="1415683"/>
                      <a:pt x="0" y="1374617"/>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10" name="TextBox 10"/>
              <p:cNvSpPr txBox="1"/>
              <p:nvPr/>
            </p:nvSpPr>
            <p:spPr>
              <a:xfrm>
                <a:off x="0" y="-38100"/>
                <a:ext cx="1388248" cy="148707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95504" y="575191"/>
              <a:ext cx="5444534" cy="6539585"/>
            </a:xfrm>
            <a:prstGeom prst="rect">
              <a:avLst/>
            </a:prstGeom>
          </p:spPr>
          <p:txBody>
            <a:bodyPr lIns="0" tIns="0" rIns="0" bIns="0" rtlCol="0" anchor="t">
              <a:spAutoFit/>
            </a:bodyPr>
            <a:lstStyle/>
            <a:p>
              <a:pPr algn="l">
                <a:lnSpc>
                  <a:spcPts val="2794"/>
                </a:lnSpc>
              </a:pPr>
              <a:r>
                <a:rPr lang="en-US" sz="1995" spc="21">
                  <a:solidFill>
                    <a:srgbClr val="FFFFFF"/>
                  </a:solidFill>
                  <a:latin typeface="Krub"/>
                  <a:ea typeface="Krub"/>
                  <a:cs typeface="Krub"/>
                  <a:sym typeface="Krub"/>
                </a:rPr>
                <a:t>Phiên bản ít tham số nhất hiện nay</a:t>
              </a:r>
            </a:p>
            <a:p>
              <a:pPr marL="430884" lvl="1" indent="-215442" algn="l">
                <a:lnSpc>
                  <a:spcPts val="2794"/>
                </a:lnSpc>
                <a:buFont typeface="Arial"/>
                <a:buChar char="•"/>
              </a:pPr>
              <a:r>
                <a:rPr lang="en-US" sz="1995" spc="21">
                  <a:solidFill>
                    <a:srgbClr val="FFFFFF"/>
                  </a:solidFill>
                  <a:latin typeface="Krub"/>
                  <a:ea typeface="Krub"/>
                  <a:cs typeface="Krub"/>
                  <a:sym typeface="Krub"/>
                </a:rPr>
                <a:t>Số lượng tham số: Khoảng 500 triệu (0.5 Billion).</a:t>
              </a:r>
            </a:p>
            <a:p>
              <a:pPr marL="430884" lvl="1" indent="-215442" algn="l">
                <a:lnSpc>
                  <a:spcPts val="2794"/>
                </a:lnSpc>
                <a:buFont typeface="Arial"/>
                <a:buChar char="•"/>
              </a:pPr>
              <a:r>
                <a:rPr lang="en-US" sz="1995" spc="21">
                  <a:solidFill>
                    <a:srgbClr val="FFFFFF"/>
                  </a:solidFill>
                  <a:latin typeface="Krub"/>
                  <a:ea typeface="Krub"/>
                  <a:cs typeface="Krub"/>
                  <a:sym typeface="Krub"/>
                </a:rPr>
                <a:t>Dung lượng: Nếu dùng định dạng đã nén (quantized như GGUF - Q4_K_M), nó chỉ nặng khoảng 350MB - 400MB RAM.</a:t>
              </a:r>
            </a:p>
            <a:p>
              <a:pPr marL="430884" lvl="1" indent="-215442" algn="l">
                <a:lnSpc>
                  <a:spcPts val="2794"/>
                </a:lnSpc>
                <a:buFont typeface="Arial"/>
                <a:buChar char="•"/>
              </a:pPr>
              <a:r>
                <a:rPr lang="en-US" sz="1995" spc="21">
                  <a:solidFill>
                    <a:srgbClr val="FFFFFF"/>
                  </a:solidFill>
                  <a:latin typeface="Krub"/>
                  <a:ea typeface="Krub"/>
                  <a:cs typeface="Krub"/>
                  <a:sym typeface="Krub"/>
                </a:rPr>
                <a:t>Đặc điểm: Cực kỳ nhanh, có thể chạy mượt mà trên cả những chiếc điện thoại cũ hoặc máy tính không có card đồ họa rời (GPU).</a:t>
              </a:r>
            </a:p>
            <a:p>
              <a:pPr algn="l">
                <a:lnSpc>
                  <a:spcPts val="2794"/>
                </a:lnSpc>
              </a:pPr>
              <a:endParaRPr lang="en-US" sz="1995" spc="21">
                <a:solidFill>
                  <a:srgbClr val="FFFFFF"/>
                </a:solidFill>
                <a:latin typeface="Krub"/>
                <a:ea typeface="Krub"/>
                <a:cs typeface="Krub"/>
                <a:sym typeface="Krub"/>
              </a:endParaRPr>
            </a:p>
          </p:txBody>
        </p:sp>
      </p:grpSp>
      <p:grpSp>
        <p:nvGrpSpPr>
          <p:cNvPr id="12" name="Group 12"/>
          <p:cNvGrpSpPr/>
          <p:nvPr/>
        </p:nvGrpSpPr>
        <p:grpSpPr>
          <a:xfrm>
            <a:off x="9527215" y="2492331"/>
            <a:ext cx="5271005" cy="4796721"/>
            <a:chOff x="0" y="0"/>
            <a:chExt cx="7028007" cy="6395628"/>
          </a:xfrm>
        </p:grpSpPr>
        <p:grpSp>
          <p:nvGrpSpPr>
            <p:cNvPr id="13" name="Group 13"/>
            <p:cNvGrpSpPr/>
            <p:nvPr/>
          </p:nvGrpSpPr>
          <p:grpSpPr>
            <a:xfrm>
              <a:off x="0" y="0"/>
              <a:ext cx="7028007" cy="6395628"/>
              <a:chOff x="0" y="0"/>
              <a:chExt cx="1388248" cy="1263334"/>
            </a:xfrm>
          </p:grpSpPr>
          <p:sp>
            <p:nvSpPr>
              <p:cNvPr id="14" name="Freeform 14"/>
              <p:cNvSpPr/>
              <p:nvPr/>
            </p:nvSpPr>
            <p:spPr>
              <a:xfrm>
                <a:off x="0" y="0"/>
                <a:ext cx="1388248" cy="1263334"/>
              </a:xfrm>
              <a:custGeom>
                <a:avLst/>
                <a:gdLst/>
                <a:ahLst/>
                <a:cxnLst/>
                <a:rect l="l" t="t" r="r" b="b"/>
                <a:pathLst>
                  <a:path w="1388248" h="1263334">
                    <a:moveTo>
                      <a:pt x="74357" y="0"/>
                    </a:moveTo>
                    <a:lnTo>
                      <a:pt x="1313892" y="0"/>
                    </a:lnTo>
                    <a:cubicBezTo>
                      <a:pt x="1333612" y="0"/>
                      <a:pt x="1352525" y="7834"/>
                      <a:pt x="1366470" y="21779"/>
                    </a:cubicBezTo>
                    <a:cubicBezTo>
                      <a:pt x="1380414" y="35723"/>
                      <a:pt x="1388248" y="54636"/>
                      <a:pt x="1388248" y="74357"/>
                    </a:cubicBezTo>
                    <a:lnTo>
                      <a:pt x="1388248" y="1188977"/>
                    </a:lnTo>
                    <a:cubicBezTo>
                      <a:pt x="1388248" y="1208698"/>
                      <a:pt x="1380414" y="1227611"/>
                      <a:pt x="1366470" y="1241555"/>
                    </a:cubicBezTo>
                    <a:cubicBezTo>
                      <a:pt x="1352525" y="1255500"/>
                      <a:pt x="1333612" y="1263334"/>
                      <a:pt x="1313892" y="1263334"/>
                    </a:cubicBezTo>
                    <a:lnTo>
                      <a:pt x="74357" y="1263334"/>
                    </a:lnTo>
                    <a:cubicBezTo>
                      <a:pt x="54636" y="1263334"/>
                      <a:pt x="35723" y="1255500"/>
                      <a:pt x="21779" y="1241555"/>
                    </a:cubicBezTo>
                    <a:cubicBezTo>
                      <a:pt x="7834" y="1227611"/>
                      <a:pt x="0" y="1208698"/>
                      <a:pt x="0" y="1188977"/>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15" name="TextBox 15"/>
              <p:cNvSpPr txBox="1"/>
              <p:nvPr/>
            </p:nvSpPr>
            <p:spPr>
              <a:xfrm>
                <a:off x="0" y="-38100"/>
                <a:ext cx="1388248" cy="1301434"/>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695504" y="575191"/>
              <a:ext cx="5444534" cy="5599785"/>
            </a:xfrm>
            <a:prstGeom prst="rect">
              <a:avLst/>
            </a:prstGeom>
          </p:spPr>
          <p:txBody>
            <a:bodyPr lIns="0" tIns="0" rIns="0" bIns="0" rtlCol="0" anchor="t">
              <a:spAutoFit/>
            </a:bodyPr>
            <a:lstStyle/>
            <a:p>
              <a:pPr algn="l">
                <a:lnSpc>
                  <a:spcPts val="2794"/>
                </a:lnSpc>
              </a:pPr>
              <a:r>
                <a:rPr lang="en-US" sz="1995" spc="21">
                  <a:solidFill>
                    <a:srgbClr val="FFFFFF"/>
                  </a:solidFill>
                  <a:latin typeface="Krub"/>
                  <a:ea typeface="Krub"/>
                  <a:cs typeface="Krub"/>
                  <a:sym typeface="Krub"/>
                </a:rPr>
                <a:t>Công dụng:</a:t>
              </a:r>
            </a:p>
            <a:p>
              <a:pPr algn="l">
                <a:lnSpc>
                  <a:spcPts val="2794"/>
                </a:lnSpc>
              </a:pPr>
              <a:r>
                <a:rPr lang="en-US" sz="1995" spc="21">
                  <a:solidFill>
                    <a:srgbClr val="FFFFFF"/>
                  </a:solidFill>
                  <a:latin typeface="Krub"/>
                  <a:ea typeface="Krub"/>
                  <a:cs typeface="Krub"/>
                  <a:sym typeface="Krub"/>
                </a:rPr>
                <a:t>-Phân loại dữ liệu (Classification)</a:t>
              </a:r>
            </a:p>
            <a:p>
              <a:pPr algn="l">
                <a:lnSpc>
                  <a:spcPts val="2794"/>
                </a:lnSpc>
              </a:pPr>
              <a:r>
                <a:rPr lang="en-US" sz="1995" spc="21">
                  <a:solidFill>
                    <a:srgbClr val="FFFFFF"/>
                  </a:solidFill>
                  <a:latin typeface="Krub"/>
                  <a:ea typeface="Krub"/>
                  <a:cs typeface="Krub"/>
                  <a:sym typeface="Krub"/>
                </a:rPr>
                <a:t>Trong dự án Chatbot du lịch của bạn, khi người dùng nhập câu hỏi, bạn cần biết họ đang muốn hỏi về "Giá vé", "Khách sạn" hay "Địa điểm ăn uống".</a:t>
              </a:r>
            </a:p>
            <a:p>
              <a:pPr algn="l">
                <a:lnSpc>
                  <a:spcPts val="2794"/>
                </a:lnSpc>
              </a:pPr>
              <a:r>
                <a:rPr lang="en-US" sz="1995" spc="21">
                  <a:solidFill>
                    <a:srgbClr val="FFFFFF"/>
                  </a:solidFill>
                  <a:latin typeface="Krub"/>
                  <a:ea typeface="Krub"/>
                  <a:cs typeface="Krub"/>
                  <a:sym typeface="Krub"/>
                </a:rPr>
                <a:t>-Chuẩn hóa văn bản</a:t>
              </a:r>
            </a:p>
            <a:p>
              <a:pPr algn="l">
                <a:lnSpc>
                  <a:spcPts val="2794"/>
                </a:lnSpc>
              </a:pPr>
              <a:r>
                <a:rPr lang="en-US" sz="1995" spc="21">
                  <a:solidFill>
                    <a:srgbClr val="FFFFFF"/>
                  </a:solidFill>
                  <a:latin typeface="Krub"/>
                  <a:ea typeface="Krub"/>
                  <a:cs typeface="Krub"/>
                  <a:sym typeface="Krub"/>
                </a:rPr>
                <a:t>-Trích xuất thông tin</a:t>
              </a:r>
            </a:p>
            <a:p>
              <a:pPr algn="l">
                <a:lnSpc>
                  <a:spcPts val="2794"/>
                </a:lnSpc>
              </a:pPr>
              <a:r>
                <a:rPr lang="en-US" sz="1995" spc="21">
                  <a:solidFill>
                    <a:srgbClr val="FFFFFF"/>
                  </a:solidFill>
                  <a:latin typeface="Krub"/>
                  <a:ea typeface="Krub"/>
                  <a:cs typeface="Krub"/>
                  <a:sym typeface="Krub"/>
                </a:rPr>
                <a:t>-Hỗ trợ viết code</a:t>
              </a:r>
            </a:p>
            <a:p>
              <a:pPr algn="l">
                <a:lnSpc>
                  <a:spcPts val="2794"/>
                </a:lnSpc>
              </a:pPr>
              <a:r>
                <a:rPr lang="en-US" sz="1995" spc="21">
                  <a:solidFill>
                    <a:srgbClr val="FFFFFF"/>
                  </a:solidFill>
                  <a:latin typeface="Krub"/>
                  <a:ea typeface="Krub"/>
                  <a:cs typeface="Krub"/>
                  <a:sym typeface="Krub"/>
                </a:rPr>
                <a:t>-Tóm tắt nội dung</a:t>
              </a:r>
            </a:p>
            <a:p>
              <a:pPr algn="l">
                <a:lnSpc>
                  <a:spcPts val="2794"/>
                </a:lnSpc>
              </a:pPr>
              <a:endParaRPr lang="en-US" sz="1995" spc="21">
                <a:solidFill>
                  <a:srgbClr val="FFFFFF"/>
                </a:solidFill>
                <a:latin typeface="Krub"/>
                <a:ea typeface="Krub"/>
                <a:cs typeface="Krub"/>
                <a:sym typeface="Krub"/>
              </a:endParaRPr>
            </a:p>
          </p:txBody>
        </p:sp>
      </p:gr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Freeform 2"/>
          <p:cNvSpPr/>
          <p:nvPr/>
        </p:nvSpPr>
        <p:spPr>
          <a:xfrm>
            <a:off x="-2078885" y="-1028700"/>
            <a:ext cx="4062430" cy="41148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696525" y="-505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2939855" y="6204779"/>
            <a:ext cx="7075330" cy="6818045"/>
          </a:xfrm>
          <a:custGeom>
            <a:avLst/>
            <a:gdLst/>
            <a:ahLst/>
            <a:cxnLst/>
            <a:rect l="l" t="t" r="r" b="b"/>
            <a:pathLst>
              <a:path w="7075330" h="6818045">
                <a:moveTo>
                  <a:pt x="0" y="0"/>
                </a:moveTo>
                <a:lnTo>
                  <a:pt x="7075330" y="0"/>
                </a:lnTo>
                <a:lnTo>
                  <a:pt x="7075330" y="6818045"/>
                </a:lnTo>
                <a:lnTo>
                  <a:pt x="0" y="68180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5871030" y="1042209"/>
            <a:ext cx="6545941" cy="1028674"/>
          </a:xfrm>
          <a:prstGeom prst="rect">
            <a:avLst/>
          </a:prstGeom>
        </p:spPr>
        <p:txBody>
          <a:bodyPr lIns="0" tIns="0" rIns="0" bIns="0" rtlCol="0" anchor="t">
            <a:spAutoFit/>
          </a:bodyPr>
          <a:lstStyle/>
          <a:p>
            <a:pPr algn="ctr">
              <a:lnSpc>
                <a:spcPts val="6641"/>
              </a:lnSpc>
            </a:pPr>
            <a:r>
              <a:rPr lang="en-US" sz="6846">
                <a:solidFill>
                  <a:srgbClr val="090147"/>
                </a:solidFill>
                <a:latin typeface="Bungee"/>
                <a:ea typeface="Bungee"/>
                <a:cs typeface="Bungee"/>
                <a:sym typeface="Bungee"/>
              </a:rPr>
              <a:t>Ollama</a:t>
            </a:r>
          </a:p>
        </p:txBody>
      </p:sp>
      <p:grpSp>
        <p:nvGrpSpPr>
          <p:cNvPr id="7" name="Group 7"/>
          <p:cNvGrpSpPr/>
          <p:nvPr/>
        </p:nvGrpSpPr>
        <p:grpSpPr>
          <a:xfrm>
            <a:off x="1283410" y="3086100"/>
            <a:ext cx="5271005" cy="5133871"/>
            <a:chOff x="0" y="0"/>
            <a:chExt cx="7028007" cy="6845161"/>
          </a:xfrm>
        </p:grpSpPr>
        <p:grpSp>
          <p:nvGrpSpPr>
            <p:cNvPr id="8" name="Group 8"/>
            <p:cNvGrpSpPr/>
            <p:nvPr/>
          </p:nvGrpSpPr>
          <p:grpSpPr>
            <a:xfrm>
              <a:off x="0" y="0"/>
              <a:ext cx="7028007" cy="6845161"/>
              <a:chOff x="0" y="0"/>
              <a:chExt cx="1388248" cy="1352131"/>
            </a:xfrm>
          </p:grpSpPr>
          <p:sp>
            <p:nvSpPr>
              <p:cNvPr id="9" name="Freeform 9"/>
              <p:cNvSpPr/>
              <p:nvPr/>
            </p:nvSpPr>
            <p:spPr>
              <a:xfrm>
                <a:off x="0" y="0"/>
                <a:ext cx="1388248" cy="1352131"/>
              </a:xfrm>
              <a:custGeom>
                <a:avLst/>
                <a:gdLst/>
                <a:ahLst/>
                <a:cxnLst/>
                <a:rect l="l" t="t" r="r" b="b"/>
                <a:pathLst>
                  <a:path w="1388248" h="1352131">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1">
                <a:gsLst>
                  <a:gs pos="0">
                    <a:srgbClr val="192385">
                      <a:alpha val="100000"/>
                    </a:srgbClr>
                  </a:gs>
                  <a:gs pos="100000">
                    <a:srgbClr val="2D8BBA">
                      <a:alpha val="100000"/>
                    </a:srgbClr>
                  </a:gs>
                </a:gsLst>
                <a:lin ang="5400000"/>
              </a:gradFill>
            </p:spPr>
          </p:sp>
          <p:sp>
            <p:nvSpPr>
              <p:cNvPr id="10" name="TextBox 10"/>
              <p:cNvSpPr txBox="1"/>
              <p:nvPr/>
            </p:nvSpPr>
            <p:spPr>
              <a:xfrm>
                <a:off x="0" y="-38100"/>
                <a:ext cx="1388248" cy="139023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999232" y="1338163"/>
              <a:ext cx="5444534" cy="3720185"/>
            </a:xfrm>
            <a:prstGeom prst="rect">
              <a:avLst/>
            </a:prstGeom>
          </p:spPr>
          <p:txBody>
            <a:bodyPr lIns="0" tIns="0" rIns="0" bIns="0" rtlCol="0" anchor="t">
              <a:spAutoFit/>
            </a:bodyPr>
            <a:lstStyle/>
            <a:p>
              <a:pPr algn="l">
                <a:lnSpc>
                  <a:spcPts val="2794"/>
                </a:lnSpc>
              </a:pPr>
              <a:r>
                <a:rPr lang="en-US" sz="1995" spc="21">
                  <a:solidFill>
                    <a:srgbClr val="FFFFFF"/>
                  </a:solidFill>
                  <a:latin typeface="Krub"/>
                  <a:ea typeface="Krub"/>
                  <a:cs typeface="Krub"/>
                  <a:sym typeface="Krub"/>
                </a:rPr>
                <a:t>Ollama là một nền tảng mã nguồn mở cho phép bạn tải, cài đặt và chạy các mô hình ngôn ngữ lớn (LLMs) như Qwen, Llama 3, hay Mistral ngay trên máy tính cá nhân (Local) mà không cần dùng đến Internet hay các dịch vụ trả phí như ChatGPT Plus.</a:t>
              </a:r>
            </a:p>
          </p:txBody>
        </p:sp>
      </p:grpSp>
      <p:grpSp>
        <p:nvGrpSpPr>
          <p:cNvPr id="12" name="Group 12"/>
          <p:cNvGrpSpPr/>
          <p:nvPr/>
        </p:nvGrpSpPr>
        <p:grpSpPr>
          <a:xfrm>
            <a:off x="6899199" y="3083989"/>
            <a:ext cx="8952682" cy="5019626"/>
            <a:chOff x="0" y="0"/>
            <a:chExt cx="11936910" cy="6692834"/>
          </a:xfrm>
        </p:grpSpPr>
        <p:grpSp>
          <p:nvGrpSpPr>
            <p:cNvPr id="13" name="Group 13"/>
            <p:cNvGrpSpPr/>
            <p:nvPr/>
          </p:nvGrpSpPr>
          <p:grpSpPr>
            <a:xfrm>
              <a:off x="0" y="0"/>
              <a:ext cx="11936910" cy="6692834"/>
              <a:chOff x="0" y="0"/>
              <a:chExt cx="2214466" cy="1241616"/>
            </a:xfrm>
          </p:grpSpPr>
          <p:sp>
            <p:nvSpPr>
              <p:cNvPr id="14" name="Freeform 14"/>
              <p:cNvSpPr/>
              <p:nvPr/>
            </p:nvSpPr>
            <p:spPr>
              <a:xfrm>
                <a:off x="0" y="0"/>
                <a:ext cx="2214466" cy="1241616"/>
              </a:xfrm>
              <a:custGeom>
                <a:avLst/>
                <a:gdLst/>
                <a:ahLst/>
                <a:cxnLst/>
                <a:rect l="l" t="t" r="r" b="b"/>
                <a:pathLst>
                  <a:path w="2214466" h="1241616">
                    <a:moveTo>
                      <a:pt x="46614" y="0"/>
                    </a:moveTo>
                    <a:lnTo>
                      <a:pt x="2167852" y="0"/>
                    </a:lnTo>
                    <a:cubicBezTo>
                      <a:pt x="2193596" y="0"/>
                      <a:pt x="2214466" y="20870"/>
                      <a:pt x="2214466" y="46614"/>
                    </a:cubicBezTo>
                    <a:lnTo>
                      <a:pt x="2214466" y="1195002"/>
                    </a:lnTo>
                    <a:cubicBezTo>
                      <a:pt x="2214466" y="1207364"/>
                      <a:pt x="2209555" y="1219221"/>
                      <a:pt x="2200813" y="1227963"/>
                    </a:cubicBezTo>
                    <a:cubicBezTo>
                      <a:pt x="2192071" y="1236705"/>
                      <a:pt x="2180215" y="1241616"/>
                      <a:pt x="2167852" y="1241616"/>
                    </a:cubicBezTo>
                    <a:lnTo>
                      <a:pt x="46614" y="1241616"/>
                    </a:lnTo>
                    <a:cubicBezTo>
                      <a:pt x="20870" y="1241616"/>
                      <a:pt x="0" y="1220746"/>
                      <a:pt x="0" y="1195002"/>
                    </a:cubicBezTo>
                    <a:lnTo>
                      <a:pt x="0" y="46614"/>
                    </a:lnTo>
                    <a:cubicBezTo>
                      <a:pt x="0" y="20870"/>
                      <a:pt x="20870" y="0"/>
                      <a:pt x="46614" y="0"/>
                    </a:cubicBezTo>
                    <a:close/>
                  </a:path>
                </a:pathLst>
              </a:custGeom>
              <a:gradFill rotWithShape="1">
                <a:gsLst>
                  <a:gs pos="0">
                    <a:srgbClr val="192385">
                      <a:alpha val="100000"/>
                    </a:srgbClr>
                  </a:gs>
                  <a:gs pos="100000">
                    <a:srgbClr val="2D8BBA">
                      <a:alpha val="100000"/>
                    </a:srgbClr>
                  </a:gs>
                </a:gsLst>
                <a:lin ang="5400000"/>
              </a:gradFill>
            </p:spPr>
          </p:sp>
          <p:sp>
            <p:nvSpPr>
              <p:cNvPr id="15" name="TextBox 15"/>
              <p:cNvSpPr txBox="1"/>
              <p:nvPr/>
            </p:nvSpPr>
            <p:spPr>
              <a:xfrm>
                <a:off x="0" y="-38100"/>
                <a:ext cx="2214466" cy="1279716"/>
              </a:xfrm>
              <a:prstGeom prst="rect">
                <a:avLst/>
              </a:prstGeom>
            </p:spPr>
            <p:txBody>
              <a:bodyPr lIns="50800" tIns="50800" rIns="50800" bIns="50800" rtlCol="0" anchor="ctr"/>
              <a:lstStyle/>
              <a:p>
                <a:pPr algn="ctr">
                  <a:lnSpc>
                    <a:spcPts val="2660"/>
                  </a:lnSpc>
                  <a:spcBef>
                    <a:spcPct val="0"/>
                  </a:spcBef>
                </a:pPr>
                <a:endParaRPr/>
              </a:p>
            </p:txBody>
          </p:sp>
        </p:grpSp>
        <p:sp>
          <p:nvSpPr>
            <p:cNvPr id="16" name="TextBox 16"/>
            <p:cNvSpPr txBox="1"/>
            <p:nvPr/>
          </p:nvSpPr>
          <p:spPr>
            <a:xfrm>
              <a:off x="564667" y="216682"/>
              <a:ext cx="10807576" cy="6476152"/>
            </a:xfrm>
            <a:prstGeom prst="rect">
              <a:avLst/>
            </a:prstGeom>
          </p:spPr>
          <p:txBody>
            <a:bodyPr lIns="0" tIns="0" rIns="0" bIns="0" rtlCol="0" anchor="t">
              <a:spAutoFit/>
            </a:bodyPr>
            <a:lstStyle/>
            <a:p>
              <a:pPr algn="l">
                <a:lnSpc>
                  <a:spcPts val="3395"/>
                </a:lnSpc>
              </a:pPr>
              <a:r>
                <a:rPr lang="en-US" sz="2425" b="1" spc="26">
                  <a:solidFill>
                    <a:srgbClr val="FFFFFF"/>
                  </a:solidFill>
                  <a:latin typeface="Krub Bold"/>
                  <a:ea typeface="Krub Bold"/>
                  <a:cs typeface="Krub Bold"/>
                  <a:sym typeface="Krub Bold"/>
                </a:rPr>
                <a:t> Công dụng:</a:t>
              </a:r>
            </a:p>
            <a:p>
              <a:pPr marL="458795" lvl="1" indent="-229398" algn="l">
                <a:lnSpc>
                  <a:spcPts val="2975"/>
                </a:lnSpc>
                <a:buFont typeface="Arial"/>
                <a:buChar char="•"/>
              </a:pPr>
              <a:r>
                <a:rPr lang="en-US" sz="2125" spc="23">
                  <a:solidFill>
                    <a:srgbClr val="FFFFFF"/>
                  </a:solidFill>
                  <a:latin typeface="Krub"/>
                  <a:ea typeface="Krub"/>
                  <a:cs typeface="Krub"/>
                  <a:sym typeface="Krub"/>
                </a:rPr>
                <a:t>Chạy AI Offline</a:t>
              </a:r>
            </a:p>
            <a:p>
              <a:pPr marL="458795" lvl="1" indent="-229398" algn="l">
                <a:lnSpc>
                  <a:spcPts val="2975"/>
                </a:lnSpc>
                <a:buFont typeface="Arial"/>
                <a:buChar char="•"/>
              </a:pPr>
              <a:r>
                <a:rPr lang="en-US" sz="2125" spc="23">
                  <a:solidFill>
                    <a:srgbClr val="FFFFFF"/>
                  </a:solidFill>
                  <a:latin typeface="Krub"/>
                  <a:ea typeface="Krub"/>
                  <a:cs typeface="Krub"/>
                  <a:sym typeface="Krub"/>
                </a:rPr>
                <a:t>Quản lý Model dễ dàng: Chỉ với một vài lệnh đơn giản (giống như lệnh git hay docker),</a:t>
              </a:r>
            </a:p>
            <a:p>
              <a:pPr marL="458795" lvl="1" indent="-229398" algn="l">
                <a:lnSpc>
                  <a:spcPts val="2975"/>
                </a:lnSpc>
                <a:buFont typeface="Arial"/>
                <a:buChar char="•"/>
              </a:pPr>
              <a:r>
                <a:rPr lang="en-US" sz="2125" spc="23">
                  <a:solidFill>
                    <a:srgbClr val="FFFFFF"/>
                  </a:solidFill>
                  <a:latin typeface="Krub"/>
                  <a:ea typeface="Krub"/>
                  <a:cs typeface="Krub"/>
                  <a:sym typeface="Krub"/>
                </a:rPr>
                <a:t>Cung cấp API cho Lập trình viên: Ollama biến máy tính thành một AI Server. Bạn có thể viết code (Python, JavaScript...) để gọi AI thực hiện các nhiệm vụ trong ứng dụng của mình.</a:t>
              </a:r>
            </a:p>
            <a:p>
              <a:pPr marL="458795" lvl="1" indent="-229398" algn="l">
                <a:lnSpc>
                  <a:spcPts val="2975"/>
                </a:lnSpc>
                <a:buFont typeface="Arial"/>
                <a:buChar char="•"/>
              </a:pPr>
              <a:r>
                <a:rPr lang="en-US" sz="2125" spc="23">
                  <a:solidFill>
                    <a:srgbClr val="FFFFFF"/>
                  </a:solidFill>
                  <a:latin typeface="Krub"/>
                  <a:ea typeface="Krub"/>
                  <a:cs typeface="Krub"/>
                  <a:sym typeface="Krub"/>
                </a:rPr>
                <a:t>Tối ưu hóa phần cứng: Nó tự động nhận diện và tận dụng tối đa sức mạnh của GPU (card đồ họa) để AI xử lý nhanh hơn. Nếu không có GPU, nó vẫn chạy được trên CPU một cách ổn định.</a:t>
              </a:r>
            </a:p>
            <a:p>
              <a:pPr algn="l">
                <a:lnSpc>
                  <a:spcPts val="2975"/>
                </a:lnSpc>
              </a:pPr>
              <a:endParaRPr lang="en-US" sz="2125" spc="23">
                <a:solidFill>
                  <a:srgbClr val="FFFFFF"/>
                </a:solidFill>
                <a:latin typeface="Krub"/>
                <a:ea typeface="Krub"/>
                <a:cs typeface="Krub"/>
                <a:sym typeface="Krub"/>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Freeform 2"/>
          <p:cNvSpPr/>
          <p:nvPr/>
        </p:nvSpPr>
        <p:spPr>
          <a:xfrm>
            <a:off x="13823442" y="2197298"/>
            <a:ext cx="4464558" cy="8229600"/>
          </a:xfrm>
          <a:custGeom>
            <a:avLst/>
            <a:gdLst/>
            <a:ahLst/>
            <a:cxnLst/>
            <a:rect l="l" t="t" r="r" b="b"/>
            <a:pathLst>
              <a:path w="4464558" h="8229600">
                <a:moveTo>
                  <a:pt x="0" y="0"/>
                </a:moveTo>
                <a:lnTo>
                  <a:pt x="4464558" y="0"/>
                </a:lnTo>
                <a:lnTo>
                  <a:pt x="4464558" y="8229600"/>
                </a:lnTo>
                <a:lnTo>
                  <a:pt x="0" y="8229600"/>
                </a:lnTo>
                <a:lnTo>
                  <a:pt x="0" y="0"/>
                </a:lnTo>
                <a:close/>
              </a:path>
            </a:pathLst>
          </a:custGeom>
          <a:blipFill>
            <a:blip r:embed="rId2"/>
            <a:stretch>
              <a:fillRect/>
            </a:stretch>
          </a:blipFill>
        </p:spPr>
      </p:sp>
      <p:sp>
        <p:nvSpPr>
          <p:cNvPr id="3" name="Freeform 3"/>
          <p:cNvSpPr/>
          <p:nvPr/>
        </p:nvSpPr>
        <p:spPr>
          <a:xfrm>
            <a:off x="-828710" y="8229600"/>
            <a:ext cx="4581255" cy="41148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1606912" y="-134353"/>
            <a:ext cx="7147278" cy="399354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5"/>
            <a:stretch>
              <a:fillRect/>
            </a:stretch>
          </a:blipFill>
        </p:spPr>
      </p:sp>
      <p:sp>
        <p:nvSpPr>
          <p:cNvPr id="5" name="TextBox 5"/>
          <p:cNvSpPr txBox="1"/>
          <p:nvPr/>
        </p:nvSpPr>
        <p:spPr>
          <a:xfrm>
            <a:off x="-319222" y="372242"/>
            <a:ext cx="19073412" cy="1490176"/>
          </a:xfrm>
          <a:prstGeom prst="rect">
            <a:avLst/>
          </a:prstGeom>
        </p:spPr>
        <p:txBody>
          <a:bodyPr lIns="0" tIns="0" rIns="0" bIns="0" rtlCol="0" anchor="t">
            <a:spAutoFit/>
          </a:bodyPr>
          <a:lstStyle/>
          <a:p>
            <a:pPr algn="ctr">
              <a:lnSpc>
                <a:spcPts val="5308"/>
              </a:lnSpc>
            </a:pPr>
            <a:r>
              <a:rPr lang="en-US" sz="5472">
                <a:solidFill>
                  <a:srgbClr val="090147"/>
                </a:solidFill>
                <a:latin typeface="Bungee"/>
                <a:ea typeface="Bungee"/>
                <a:cs typeface="Bungee"/>
                <a:sym typeface="Bungee"/>
              </a:rPr>
              <a:t>RAG</a:t>
            </a:r>
          </a:p>
          <a:p>
            <a:pPr algn="ctr">
              <a:lnSpc>
                <a:spcPts val="5308"/>
              </a:lnSpc>
            </a:pPr>
            <a:r>
              <a:rPr lang="en-US" sz="5472">
                <a:solidFill>
                  <a:srgbClr val="090147"/>
                </a:solidFill>
                <a:latin typeface="Bungee"/>
                <a:ea typeface="Bungee"/>
                <a:cs typeface="Bungee"/>
                <a:sym typeface="Bungee"/>
              </a:rPr>
              <a:t> (Retrieval-augmented generation)</a:t>
            </a:r>
          </a:p>
        </p:txBody>
      </p:sp>
      <p:grpSp>
        <p:nvGrpSpPr>
          <p:cNvPr id="6" name="Group 6"/>
          <p:cNvGrpSpPr/>
          <p:nvPr/>
        </p:nvGrpSpPr>
        <p:grpSpPr>
          <a:xfrm>
            <a:off x="3402871" y="3095729"/>
            <a:ext cx="9901566" cy="5133871"/>
            <a:chOff x="0" y="0"/>
            <a:chExt cx="13202087" cy="6845161"/>
          </a:xfrm>
        </p:grpSpPr>
        <p:grpSp>
          <p:nvGrpSpPr>
            <p:cNvPr id="7" name="Group 7"/>
            <p:cNvGrpSpPr/>
            <p:nvPr/>
          </p:nvGrpSpPr>
          <p:grpSpPr>
            <a:xfrm>
              <a:off x="0" y="0"/>
              <a:ext cx="13202087" cy="6845161"/>
              <a:chOff x="0" y="0"/>
              <a:chExt cx="2607820" cy="1352131"/>
            </a:xfrm>
          </p:grpSpPr>
          <p:sp>
            <p:nvSpPr>
              <p:cNvPr id="8" name="Freeform 8"/>
              <p:cNvSpPr/>
              <p:nvPr/>
            </p:nvSpPr>
            <p:spPr>
              <a:xfrm>
                <a:off x="0" y="0"/>
                <a:ext cx="2607820" cy="1352131"/>
              </a:xfrm>
              <a:custGeom>
                <a:avLst/>
                <a:gdLst/>
                <a:ahLst/>
                <a:cxnLst/>
                <a:rect l="l" t="t" r="r" b="b"/>
                <a:pathLst>
                  <a:path w="2607820" h="1352131">
                    <a:moveTo>
                      <a:pt x="39583" y="0"/>
                    </a:moveTo>
                    <a:lnTo>
                      <a:pt x="2568237" y="0"/>
                    </a:lnTo>
                    <a:cubicBezTo>
                      <a:pt x="2578735" y="0"/>
                      <a:pt x="2588803" y="4170"/>
                      <a:pt x="2596226" y="11594"/>
                    </a:cubicBezTo>
                    <a:cubicBezTo>
                      <a:pt x="2603649" y="19017"/>
                      <a:pt x="2607820" y="29085"/>
                      <a:pt x="2607820" y="39583"/>
                    </a:cubicBezTo>
                    <a:lnTo>
                      <a:pt x="2607820" y="1312548"/>
                    </a:lnTo>
                    <a:cubicBezTo>
                      <a:pt x="2607820" y="1334409"/>
                      <a:pt x="2590098" y="1352131"/>
                      <a:pt x="2568237" y="1352131"/>
                    </a:cubicBezTo>
                    <a:lnTo>
                      <a:pt x="39583" y="1352131"/>
                    </a:lnTo>
                    <a:cubicBezTo>
                      <a:pt x="29085" y="1352131"/>
                      <a:pt x="19017" y="1347960"/>
                      <a:pt x="11594" y="1340537"/>
                    </a:cubicBezTo>
                    <a:cubicBezTo>
                      <a:pt x="4170" y="1333114"/>
                      <a:pt x="0" y="1323046"/>
                      <a:pt x="0" y="1312548"/>
                    </a:cubicBezTo>
                    <a:lnTo>
                      <a:pt x="0" y="39583"/>
                    </a:lnTo>
                    <a:cubicBezTo>
                      <a:pt x="0" y="29085"/>
                      <a:pt x="4170" y="19017"/>
                      <a:pt x="11594" y="11594"/>
                    </a:cubicBezTo>
                    <a:cubicBezTo>
                      <a:pt x="19017" y="4170"/>
                      <a:pt x="29085" y="0"/>
                      <a:pt x="39583" y="0"/>
                    </a:cubicBezTo>
                    <a:close/>
                  </a:path>
                </a:pathLst>
              </a:custGeom>
              <a:gradFill rotWithShape="1">
                <a:gsLst>
                  <a:gs pos="0">
                    <a:srgbClr val="192385">
                      <a:alpha val="100000"/>
                    </a:srgbClr>
                  </a:gs>
                  <a:gs pos="100000">
                    <a:srgbClr val="2D8BBA">
                      <a:alpha val="100000"/>
                    </a:srgbClr>
                  </a:gs>
                </a:gsLst>
                <a:lin ang="5400000"/>
              </a:gradFill>
            </p:spPr>
          </p:sp>
          <p:sp>
            <p:nvSpPr>
              <p:cNvPr id="9" name="TextBox 9"/>
              <p:cNvSpPr txBox="1"/>
              <p:nvPr/>
            </p:nvSpPr>
            <p:spPr>
              <a:xfrm>
                <a:off x="0" y="-38100"/>
                <a:ext cx="2607820" cy="1390231"/>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33942" y="1186384"/>
              <a:ext cx="11134204" cy="4066494"/>
            </a:xfrm>
            <a:prstGeom prst="rect">
              <a:avLst/>
            </a:prstGeom>
          </p:spPr>
          <p:txBody>
            <a:bodyPr lIns="0" tIns="0" rIns="0" bIns="0" rtlCol="0" anchor="t">
              <a:spAutoFit/>
            </a:bodyPr>
            <a:lstStyle/>
            <a:p>
              <a:pPr algn="l">
                <a:lnSpc>
                  <a:spcPts val="3041"/>
                </a:lnSpc>
              </a:pPr>
              <a:r>
                <a:rPr lang="en-US" sz="2172" spc="23">
                  <a:solidFill>
                    <a:srgbClr val="FFFFFF"/>
                  </a:solidFill>
                  <a:latin typeface="Krub"/>
                  <a:ea typeface="Krub"/>
                  <a:cs typeface="Krub"/>
                  <a:sym typeface="Krub"/>
                </a:rPr>
                <a:t>Retrieval-augmented Generation (RAG) là một phương pháp trong </a:t>
              </a:r>
              <a:r>
                <a:rPr lang="en-US" sz="2172" u="sng" spc="23">
                  <a:solidFill>
                    <a:srgbClr val="FFFFFF"/>
                  </a:solidFill>
                  <a:latin typeface="Krub"/>
                  <a:ea typeface="Krub"/>
                  <a:cs typeface="Krub"/>
                  <a:sym typeface="Krub"/>
                  <a:hlinkClick r:id="rId6" tooltip="https://vnptai.io/vi/blog/detail/tri-tue-nhan-tao-ai-la-gi"/>
                </a:rPr>
                <a:t>trí tuệ nhân tạo</a:t>
              </a:r>
              <a:r>
                <a:rPr lang="en-US" sz="2172" spc="23">
                  <a:solidFill>
                    <a:srgbClr val="FFFFFF"/>
                  </a:solidFill>
                  <a:latin typeface="Krub"/>
                  <a:ea typeface="Krub"/>
                  <a:cs typeface="Krub"/>
                  <a:sym typeface="Krub"/>
                </a:rPr>
                <a:t>, kết hợp giữa hai thành phần chính: </a:t>
              </a:r>
              <a:r>
                <a:rPr lang="en-US" sz="2172" u="sng" spc="23">
                  <a:solidFill>
                    <a:srgbClr val="FFFFFF"/>
                  </a:solidFill>
                  <a:latin typeface="Krub"/>
                  <a:ea typeface="Krub"/>
                  <a:cs typeface="Krub"/>
                  <a:sym typeface="Krub"/>
                  <a:hlinkClick r:id="rId7" tooltip="https://vnptai.io/vi/blog/detail/llm-la-gi"/>
                </a:rPr>
                <a:t>mô hình ngôn ngữ lớn (Large Language Model - LLM)</a:t>
              </a:r>
              <a:r>
                <a:rPr lang="en-US" sz="2172" spc="23">
                  <a:solidFill>
                    <a:srgbClr val="FFFFFF"/>
                  </a:solidFill>
                  <a:latin typeface="Krub"/>
                  <a:ea typeface="Krub"/>
                  <a:cs typeface="Krub"/>
                  <a:sym typeface="Krub"/>
                </a:rPr>
                <a:t> và cơ chế truy xuất dữ liệu từ kho tri thức bên ngoài. Theo IBM và Amazon, RAG được thiết kế nhằm khắc phục hạn chế của các mô hình ngôn ngữ khi chúng chỉ dựa trên dữ liệu đã được huấn luyện sẵn, dễ dẫn đến hiện tượng “ảo tưởng thông tin” (hallucination).</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836319" y="2923886"/>
            <a:ext cx="10486600" cy="4477328"/>
          </a:xfrm>
          <a:prstGeom prst="rect">
            <a:avLst/>
          </a:prstGeom>
        </p:spPr>
        <p:txBody>
          <a:bodyPr lIns="0" tIns="0" rIns="0" bIns="0" rtlCol="0" anchor="t">
            <a:spAutoFit/>
          </a:bodyPr>
          <a:lstStyle/>
          <a:p>
            <a:pPr algn="ctr">
              <a:lnSpc>
                <a:spcPts val="15914"/>
              </a:lnSpc>
            </a:pPr>
            <a:r>
              <a:rPr lang="en-US" sz="16407">
                <a:solidFill>
                  <a:srgbClr val="090147"/>
                </a:solidFill>
                <a:latin typeface="Bungee"/>
                <a:ea typeface="Bungee"/>
                <a:cs typeface="Bungee"/>
                <a:sym typeface="Bungee"/>
              </a:rPr>
              <a:t>Thank Tou</a:t>
            </a:r>
          </a:p>
        </p:txBody>
      </p:sp>
      <p:sp>
        <p:nvSpPr>
          <p:cNvPr id="3" name="Freeform 3"/>
          <p:cNvSpPr/>
          <p:nvPr/>
        </p:nvSpPr>
        <p:spPr>
          <a:xfrm>
            <a:off x="-652637" y="-721895"/>
            <a:ext cx="4062430" cy="4114800"/>
          </a:xfrm>
          <a:custGeom>
            <a:avLst/>
            <a:gdLst/>
            <a:ahLst/>
            <a:cxnLst/>
            <a:rect l="l" t="t" r="r" b="b"/>
            <a:pathLst>
              <a:path w="4062430" h="4114800">
                <a:moveTo>
                  <a:pt x="0" y="0"/>
                </a:moveTo>
                <a:lnTo>
                  <a:pt x="4062429" y="0"/>
                </a:lnTo>
                <a:lnTo>
                  <a:pt x="40624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08884" y="7041092"/>
            <a:ext cx="5174922" cy="5172766"/>
          </a:xfrm>
          <a:custGeom>
            <a:avLst/>
            <a:gdLst/>
            <a:ahLst/>
            <a:cxnLst/>
            <a:rect l="l" t="t" r="r" b="b"/>
            <a:pathLst>
              <a:path w="5174922" h="5172766">
                <a:moveTo>
                  <a:pt x="0" y="0"/>
                </a:moveTo>
                <a:lnTo>
                  <a:pt x="5174923" y="0"/>
                </a:lnTo>
                <a:lnTo>
                  <a:pt x="5174923" y="5172766"/>
                </a:lnTo>
                <a:lnTo>
                  <a:pt x="0" y="5172766"/>
                </a:lnTo>
                <a:lnTo>
                  <a:pt x="0" y="0"/>
                </a:lnTo>
                <a:close/>
              </a:path>
            </a:pathLst>
          </a:custGeom>
          <a:blipFill>
            <a:blip r:embed="rId4"/>
            <a:stretch>
              <a:fillRect/>
            </a:stretch>
          </a:blipFill>
        </p:spPr>
      </p:sp>
      <p:sp>
        <p:nvSpPr>
          <p:cNvPr id="5" name="Freeform 5"/>
          <p:cNvSpPr/>
          <p:nvPr/>
        </p:nvSpPr>
        <p:spPr>
          <a:xfrm>
            <a:off x="14322918" y="4783378"/>
            <a:ext cx="6733446" cy="7030847"/>
          </a:xfrm>
          <a:custGeom>
            <a:avLst/>
            <a:gdLst/>
            <a:ahLst/>
            <a:cxnLst/>
            <a:rect l="l" t="t" r="r" b="b"/>
            <a:pathLst>
              <a:path w="6733446" h="7030847">
                <a:moveTo>
                  <a:pt x="0" y="0"/>
                </a:moveTo>
                <a:lnTo>
                  <a:pt x="6733447" y="0"/>
                </a:lnTo>
                <a:lnTo>
                  <a:pt x="6733447" y="7030846"/>
                </a:lnTo>
                <a:lnTo>
                  <a:pt x="0" y="70308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4882600" y="-1557683"/>
            <a:ext cx="5174922" cy="5172766"/>
          </a:xfrm>
          <a:custGeom>
            <a:avLst/>
            <a:gdLst/>
            <a:ahLst/>
            <a:cxnLst/>
            <a:rect l="l" t="t" r="r" b="b"/>
            <a:pathLst>
              <a:path w="5174922" h="5172766">
                <a:moveTo>
                  <a:pt x="0" y="0"/>
                </a:moveTo>
                <a:lnTo>
                  <a:pt x="5174922" y="0"/>
                </a:lnTo>
                <a:lnTo>
                  <a:pt x="5174922" y="5172766"/>
                </a:lnTo>
                <a:lnTo>
                  <a:pt x="0" y="5172766"/>
                </a:lnTo>
                <a:lnTo>
                  <a:pt x="0" y="0"/>
                </a:lnTo>
                <a:close/>
              </a:path>
            </a:pathLst>
          </a:custGeom>
          <a:blipFill>
            <a:blip r:embed="rId4"/>
            <a:stretch>
              <a:fillRect/>
            </a:stretch>
          </a:blipFill>
        </p:spPr>
      </p:sp>
      <p:sp>
        <p:nvSpPr>
          <p:cNvPr id="7" name="Freeform 7"/>
          <p:cNvSpPr/>
          <p:nvPr/>
        </p:nvSpPr>
        <p:spPr>
          <a:xfrm>
            <a:off x="6300712" y="-1889926"/>
            <a:ext cx="4420195" cy="41148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a:stretch>
          </a:blipFill>
        </p:spPr>
      </p:sp>
      <p:sp>
        <p:nvSpPr>
          <p:cNvPr id="8" name="Freeform 8"/>
          <p:cNvSpPr/>
          <p:nvPr/>
        </p:nvSpPr>
        <p:spPr>
          <a:xfrm rot="-10321493">
            <a:off x="6300712" y="8352127"/>
            <a:ext cx="4420195" cy="41148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a:stretch>
          </a:blipFill>
        </p:spPr>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981</Words>
  <Application>Microsoft Office PowerPoint</Application>
  <PresentationFormat>Custom</PresentationFormat>
  <Paragraphs>42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Krub</vt:lpstr>
      <vt:lpstr>Bungee</vt:lpstr>
      <vt:lpstr>Krub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cp:lastModifiedBy>Trung Võ</cp:lastModifiedBy>
  <cp:revision>2</cp:revision>
  <dcterms:created xsi:type="dcterms:W3CDTF">2006-08-16T00:00:00Z</dcterms:created>
  <dcterms:modified xsi:type="dcterms:W3CDTF">2026-04-08T09:41:40Z</dcterms:modified>
  <dc:identifier>DAHGQOGjSCc</dc:identifier>
</cp:coreProperties>
</file>